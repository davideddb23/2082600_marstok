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106" d="100"/>
          <a:sy n="106" d="100"/>
        </p:scale>
        <p:origin x="6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5056632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2286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0" y="219456"/>
            <a:ext cx="5056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9731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822960"/>
            <a:ext cx="5056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Containers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444752"/>
            <a:ext cx="44165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72768"/>
            <a:ext cx="5056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97316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76272"/>
            <a:ext cx="5056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Backend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2798064"/>
            <a:ext cx="44165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5056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97316"/>
                </a:solidFill>
                <a:latin typeface="Calibri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29584"/>
            <a:ext cx="5056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User Stories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4151376"/>
            <a:ext cx="44165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4279392"/>
            <a:ext cx="5056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97316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882896"/>
            <a:ext cx="5056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docker compose 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5504688"/>
            <a:ext cx="44165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5632704"/>
            <a:ext cx="50566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97316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236208"/>
            <a:ext cx="5056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713232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5448" y="91440"/>
            <a:ext cx="6976872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20116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LAP 2025/2026  ·  HACKATHON — MARCH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512064"/>
            <a:ext cx="502920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1481328"/>
            <a:ext cx="6537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97316"/>
                </a:solidFill>
                <a:latin typeface="Calibri"/>
              </a:rPr>
              <a:t>🔴  Mars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2962656"/>
            <a:ext cx="6537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Calibri"/>
              </a:rPr>
              <a:t>Distributed IoT Automation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02736"/>
            <a:ext cx="5120640" cy="411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3730752"/>
            <a:ext cx="6537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Event-driven  ·  Real-time SSE  ·  IF-THEN rules  ·  Fully containerised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4279392"/>
            <a:ext cx="3278846" cy="969264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8911" y="4279392"/>
            <a:ext cx="118023" cy="9692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536" y="4334256"/>
            <a:ext cx="310222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300" b="1" i="0" dirty="0">
                <a:solidFill>
                  <a:srgbClr val="F97316"/>
                </a:solidFill>
                <a:latin typeface="Calibri"/>
              </a:rPr>
              <a:t>Davide De Blasio -  </a:t>
            </a:r>
            <a:r>
              <a:rPr sz="1300" b="1" i="0" dirty="0">
                <a:solidFill>
                  <a:srgbClr val="F97316"/>
                </a:solidFill>
                <a:latin typeface="Calibri"/>
              </a:rPr>
              <a:t>Student ID: 2082600</a:t>
            </a:r>
            <a:endParaRPr lang="it-IT" sz="1300" b="1" i="0" dirty="0">
              <a:solidFill>
                <a:srgbClr val="F97316"/>
              </a:solidFill>
              <a:latin typeface="Calibri"/>
            </a:endParaRPr>
          </a:p>
          <a:p>
            <a:pPr algn="l"/>
            <a:r>
              <a:rPr lang="it-IT" sz="1300" b="1" dirty="0">
                <a:solidFill>
                  <a:srgbClr val="F97316"/>
                </a:solidFill>
                <a:latin typeface="Calibri"/>
              </a:rPr>
              <a:t>Davide Ferrante - </a:t>
            </a:r>
            <a:r>
              <a:rPr lang="it-IT" sz="1300" b="1" dirty="0" err="1">
                <a:solidFill>
                  <a:srgbClr val="F97316"/>
                </a:solidFill>
                <a:latin typeface="Calibri"/>
              </a:rPr>
              <a:t>Student</a:t>
            </a:r>
            <a:r>
              <a:rPr lang="it-IT" sz="1300" b="1" dirty="0">
                <a:solidFill>
                  <a:srgbClr val="F97316"/>
                </a:solidFill>
                <a:latin typeface="Calibri"/>
              </a:rPr>
              <a:t> ID: 1949293</a:t>
            </a:r>
          </a:p>
          <a:p>
            <a:pPr algn="l"/>
            <a:r>
              <a:rPr lang="it-IT" sz="1300" b="1" i="0" dirty="0">
                <a:solidFill>
                  <a:srgbClr val="F97316"/>
                </a:solidFill>
                <a:latin typeface="Calibri"/>
              </a:rPr>
              <a:t>Francesco Gallo </a:t>
            </a:r>
            <a:r>
              <a:rPr lang="it-IT" sz="1300" b="1" dirty="0">
                <a:solidFill>
                  <a:srgbClr val="F97316"/>
                </a:solidFill>
                <a:latin typeface="Calibri"/>
              </a:rPr>
              <a:t>- </a:t>
            </a:r>
            <a:r>
              <a:rPr lang="it-IT" sz="1300" b="1" i="0" dirty="0" err="1">
                <a:solidFill>
                  <a:srgbClr val="F97316"/>
                </a:solidFill>
                <a:latin typeface="Calibri"/>
              </a:rPr>
              <a:t>Student</a:t>
            </a:r>
            <a:r>
              <a:rPr lang="it-IT" sz="1300" b="1" i="0" dirty="0">
                <a:solidFill>
                  <a:srgbClr val="F97316"/>
                </a:solidFill>
                <a:latin typeface="Calibri"/>
              </a:rPr>
              <a:t> ID: 2162128</a:t>
            </a:r>
          </a:p>
          <a:p>
            <a:pPr algn="l"/>
            <a:r>
              <a:rPr lang="it-IT" sz="1300" b="1" dirty="0">
                <a:solidFill>
                  <a:srgbClr val="F97316"/>
                </a:solidFill>
                <a:latin typeface="Calibri"/>
              </a:rPr>
              <a:t>Pietro Rinaldi -     </a:t>
            </a:r>
            <a:r>
              <a:rPr lang="it-IT" sz="1300" b="1" dirty="0" err="1">
                <a:solidFill>
                  <a:srgbClr val="F97316"/>
                </a:solidFill>
                <a:latin typeface="Calibri"/>
              </a:rPr>
              <a:t>Student</a:t>
            </a:r>
            <a:r>
              <a:rPr lang="it-IT" sz="1300" b="1" dirty="0">
                <a:solidFill>
                  <a:srgbClr val="F97316"/>
                </a:solidFill>
                <a:latin typeface="Calibri"/>
              </a:rPr>
              <a:t> ID: 2001179</a:t>
            </a:r>
            <a:endParaRPr sz="1300" b="1" i="0" dirty="0">
              <a:solidFill>
                <a:srgbClr val="F97316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119245" y="4279392"/>
            <a:ext cx="1874519" cy="420624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9245" y="4279392"/>
            <a:ext cx="82296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83837" y="4334256"/>
            <a:ext cx="1709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Project: MarsTok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713232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6601968"/>
            <a:ext cx="6629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Sapienza University of Rome  ·  A.Y.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🚨  Problem &amp;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  <a:endParaRPr lang="it-IT" sz="9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11274552" cy="60350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886968"/>
            <a:ext cx="82296" cy="60350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96012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  <a:latin typeface="Calibri"/>
              </a:rPr>
              <a:t>"Mars 2036. Your automation stack is partially destroyed. Devices speak incompatible dialects. Rebuild it — or face thermodynamic consequences."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EF4444"/>
                </a:solidFill>
                <a:latin typeface="Calibri"/>
              </a:rPr>
              <a:t>❌  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6002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2C55E"/>
                </a:solidFill>
                <a:latin typeface="Calibri"/>
              </a:rPr>
              <a:t>✅  Our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84248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984248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13969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15 devices,  8 raw JSON schemas,  two transport protocols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984248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45352" y="1984248"/>
            <a:ext cx="6400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139696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Unified  InternalEvent  normalisation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06624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706624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2862072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REST polling + persistent SSE streams — no unified format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706624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2706624"/>
            <a:ext cx="6400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2862072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Event-driven pipeline via  RabbitMQ  fanout exchange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29000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3429000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58444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Operators face a blank dashboard on page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429000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45352" y="3429000"/>
            <a:ext cx="6400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2" y="3584448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IF-THEN rule engine — auto-triggers actuators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51376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151376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306824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Automation must fire without human intervention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4151376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45352" y="4151376"/>
            <a:ext cx="6400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4306824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React dashboard with  live SSE push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73752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4873752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Configuration must survive service restarts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5352" y="4873752"/>
            <a:ext cx="5486400" cy="6583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45352" y="4873752"/>
            <a:ext cx="6400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28232" y="50292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  <a:latin typeface="Calibri"/>
              </a:rPr>
              <a:t>Full Docker Compose IaC — one command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🏗️ 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86968"/>
            <a:ext cx="6903720" cy="58521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886968"/>
            <a:ext cx="64008" cy="5852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941832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🔴  mars-iot-simulator 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216152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8 REST sensors (poll 5 s)  ·  7 SSE telemetry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72184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7316"/>
                </a:solidFill>
                <a:latin typeface="Calibri"/>
              </a:rPr>
              <a:t>↓  HTTP GET every 5 s   +   SSE EventSource (7 topics)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46504"/>
            <a:ext cx="6903720" cy="58521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746504"/>
            <a:ext cx="64008" cy="58521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180136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🔵  collector  — Python 3.12 asyncio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075688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polls + streams + normalises (8 raw schemas) + publishes to RabbitMQ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31720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7316"/>
                </a:solidFill>
                <a:latin typeface="Calibri"/>
              </a:rPr>
              <a:t>↓  AMQP  PERSISTENT  publish  to  mars.events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6903720" cy="58521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606040"/>
            <a:ext cx="64008" cy="5852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660904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🟣  RabbitMQ 3.13  — fanout exchange  mars.events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93522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durable queues  ·  persistent delivery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91256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7316"/>
                </a:solidFill>
                <a:latin typeface="Calibri"/>
              </a:rPr>
              <a:t>↓  exclusive anonymous queue  (auto-delete on consumer restart)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65576"/>
            <a:ext cx="6903720" cy="58521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465576"/>
            <a:ext cx="64008" cy="58521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52044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🟠  rules-engine  — Python 3.12 asyncio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79476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cache state in Redis → evaluate rules → POST actuator → INSERT alert → 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50792"/>
            <a:ext cx="6903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7316"/>
                </a:solidFill>
                <a:latin typeface="Calibri"/>
              </a:rPr>
              <a:t>↓  REST  ·  ↓  Redis state  ·  ↓  PostgreSQL  ·  ↓  Redis pub/sub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25112"/>
            <a:ext cx="3396996" cy="58521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325112"/>
            <a:ext cx="64008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398264"/>
            <a:ext cx="31683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🩵  api  — FastAPI :8000
REST + SSE gateway  ·  pydantic v2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3924" y="4325112"/>
            <a:ext cx="3396996" cy="58521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963924" y="4325112"/>
            <a:ext cx="64008" cy="5852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28516" y="4398264"/>
            <a:ext cx="31683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🟢  frontend  — React 18 :3000
7-page SPA  ·  Vite  ·  TailwindCSS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886968"/>
            <a:ext cx="4032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  <a:latin typeface="Calibri"/>
              </a:rPr>
              <a:t>Infrastructure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99248" y="1252728"/>
            <a:ext cx="4032504" cy="16642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699248" y="1252728"/>
            <a:ext cx="64008" cy="16642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0" y="1344168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📨  RabbitMQ 3.13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1709928"/>
            <a:ext cx="3803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fanout  mars.events
durable  ·  persistent delivery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99248" y="3026664"/>
            <a:ext cx="4032504" cy="16642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699248" y="3026664"/>
            <a:ext cx="64008" cy="16642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63840" y="3118104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⚡  Redis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3483864"/>
            <a:ext cx="3803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state:{id}  TTL=3600 s
pub/sub:  mars.events  +  mars.alerts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99248" y="4800600"/>
            <a:ext cx="4032504" cy="16642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699248" y="4800600"/>
            <a:ext cx="64008" cy="16642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63840" y="4892040"/>
            <a:ext cx="3803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🐘  PostgreSQL 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257800"/>
            <a:ext cx="3803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tables:  rules  +  alerts
JSONB  ·  Alembic auto-migration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⚡  Data Pipeline &amp; Unified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86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7-Step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25272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Poll 8 REST sensors every 5 s · maintain 7 persistent SSE connections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00200"/>
            <a:ext cx="537667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947672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975104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476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Normalise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194767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8 raw schemas → 1 InternalEvent via dispatcher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95144"/>
            <a:ext cx="537667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642616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670048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42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42616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PERSISTENT delivery to RabbitMQ fanout  mars.events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90088"/>
            <a:ext cx="537667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337560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364992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33756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33756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Write state:{id} to Redis TTL=1 h · evaluate all enabled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85032"/>
            <a:ext cx="537667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032504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059936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0325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032504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POST actuator to simulator + INSERT PostgreSQL + PUBLISH Redis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79976"/>
            <a:ext cx="537667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727448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72744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72744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API subscribes Redis pub/sub → relays named SSE events to browser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74920"/>
            <a:ext cx="5376672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5422392"/>
            <a:ext cx="310896" cy="3108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449824"/>
            <a:ext cx="3108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42239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42239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useSSE: pre-fetch GET /api/state/ on load then merge live stream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886968"/>
            <a:ext cx="5330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InternalEvent Schema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234440"/>
            <a:ext cx="5330952" cy="400507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5392" y="1344168"/>
            <a:ext cx="5102352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4D399"/>
                </a:solidFill>
                <a:latin typeface="Courier New"/>
              </a:rPr>
              <a:t>{
  "event_id":    "550e8400-e29b-41d4-...",
  "timestamp":   "2026-03-06T12:00:00Z",
  "source_id":   "greenhouse_temperature",
  "source_type": "rest_sensor",
  "category":    "environment",
  "metrics": [
    { "name": "value", "value": 22.5, "unit": "degC" }
  ],
  "status":     "ok | warning | null",
  "raw_schema": "rest.scalar.v1"
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349240"/>
            <a:ext cx="5330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8 schemas handled: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605272"/>
            <a:ext cx="5330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rest.scalar.v1 · rest.chemistry.v1 · rest.level.v1 · rest.particulate.v1
topic.power.v1 · topic.environment.v1 · topic.thermal_loop.v1 · topic.airlock.v1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⚙️  Automation Engine — IF-THEN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  <a:endParaRPr lang="it-IT" sz="9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86968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Rule Model (persisted in PostgreSQL)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26700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325880"/>
            <a:ext cx="5376672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4D399"/>
                </a:solidFill>
                <a:latin typeface="Courier New"/>
              </a:rPr>
              <a:t>{
  "name": "High Temp → Cooling Fan ON",
  "enabled": true,
  "condition": {
    "source_id": "greenhouse_temperature",
    "metric":    "value",
    "operator":  "&gt;",
    "threshold": 35.0
  },
  "action": {
    "actuator_name": "cooling_fan",
    "state":         "ON"
  }
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14216"/>
            <a:ext cx="5577840" cy="56692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014216"/>
            <a:ext cx="64008" cy="5669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105656"/>
            <a:ext cx="5376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🔁  Evaluated on every incoming event
     SELECT * FROM rules WHERE enabled =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90872"/>
            <a:ext cx="5577840" cy="51206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690872"/>
            <a:ext cx="64008" cy="5120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4782312"/>
            <a:ext cx="5376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POST  simulator:8080/actuators/{name}  →  {"state": "ON"}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886968"/>
            <a:ext cx="5239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Supported Operators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252728"/>
            <a:ext cx="1609344" cy="42062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1252728"/>
            <a:ext cx="64008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8544" y="1325880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&gt;  (gt)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7032" y="1252728"/>
            <a:ext cx="1609344" cy="42062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57032" y="1252728"/>
            <a:ext cx="64008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03336" y="1325880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&lt;  (lt)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1824" y="1252728"/>
            <a:ext cx="1609344" cy="42062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21824" y="1252728"/>
            <a:ext cx="64008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68128" y="1325880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&gt;=  (gte)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773935"/>
            <a:ext cx="1609344" cy="42062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92240" y="1773935"/>
            <a:ext cx="64008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38544" y="1847087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&lt;=  (lte)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7032" y="1773935"/>
            <a:ext cx="1609344" cy="42062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57032" y="1773935"/>
            <a:ext cx="64008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03336" y="1847087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=  (eq)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21824" y="1773935"/>
            <a:ext cx="1609344" cy="420624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021824" y="1773935"/>
            <a:ext cx="64008" cy="420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68128" y="1847087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!=  (neq)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423160"/>
            <a:ext cx="5239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Rule Lifecycle — Full CRUD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492240" y="2788920"/>
          <a:ext cx="48463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Create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POST   /api/rules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List/Get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GET    /api/rules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Edit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PUT    /api/rules/{id}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Toggle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PATCH  /api/rules/{id}/toggle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DELETE /api/rules/{id}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Rectangle 39"/>
          <p:cNvSpPr/>
          <p:nvPr/>
        </p:nvSpPr>
        <p:spPr>
          <a:xfrm>
            <a:off x="6492240" y="4910328"/>
            <a:ext cx="5239512" cy="6217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4910328"/>
            <a:ext cx="64008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56832" y="5020055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✅  Persisted in PostgreSQL — survive  docker compose down
     alembic upgrade head  runs automatically on boot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🖥️  Frontend Dashboard — 7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  <a:endParaRPr lang="it-IT" sz="9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886968"/>
          <a:ext cx="108813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Key Features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All sensor cards · live SSE · ok/warning status badges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1–4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6 live Recharts line charts (solar array, bus, consumption)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Radiation + life support cards · REST sensor widgets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6,9,10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Airlock&amp;Thermal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State badge IDLE/PRESSURIZING/DEPRESSURIZING · thermal charts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7,8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Actuators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ON/OFF toggle cards for all 4 actuators · 5 s auto-refresh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11,12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RuleForm dialog + RuleTable · full CRUD + toggle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13–18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Alerts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Timeline · rule/source dropdowns · SSE live prepend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19,20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62855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Real-time Data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10328"/>
            <a:ext cx="173736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910328"/>
            <a:ext cx="6400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500176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Page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3704" y="5157216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8296" y="4910328"/>
            <a:ext cx="173736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68296" y="4910328"/>
            <a:ext cx="64008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96312" y="500176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6B6D4"/>
                </a:solidFill>
                <a:latin typeface="Calibri"/>
              </a:rPr>
              <a:t>GET /api/state/
pre-fetch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57216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9392" y="4910328"/>
            <a:ext cx="173736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79392" y="4910328"/>
            <a:ext cx="64008" cy="7498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07408" y="500176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97316"/>
                </a:solidFill>
                <a:latin typeface="Calibri"/>
              </a:rPr>
              <a:t>EventSource
/api/stream 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5157216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4910328"/>
            <a:ext cx="173736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4910328"/>
            <a:ext cx="64008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18504" y="500176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C55E"/>
                </a:solidFill>
                <a:latin typeface="Calibri"/>
              </a:rPr>
              <a:t>sensor_update
state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5157216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4910328"/>
            <a:ext cx="173736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01584" y="4910328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500176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59E0B"/>
                </a:solidFill>
                <a:latin typeface="Calibri"/>
              </a:rPr>
              <a:t>alert event
prepend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5157216"/>
            <a:ext cx="155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4910328"/>
            <a:ext cx="1737360" cy="74980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4910328"/>
            <a:ext cx="64008" cy="7498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0696" y="500176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0A5FA"/>
                </a:solidFill>
                <a:latin typeface="Calibri"/>
              </a:rPr>
              <a:t>3 s reconnect
on drop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0644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React 18 · TypeScript · Vite · TailwindCSS · Recharts · lucide-react · react-router-dom v6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🔧 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  <a:endParaRPr lang="it-IT" sz="900" dirty="0">
              <a:solidFill>
                <a:srgbClr val="94A3B8"/>
              </a:solidFill>
              <a:latin typeface="Calibri"/>
            </a:endParaRPr>
          </a:p>
          <a:p>
            <a:pPr algn="l"/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886968"/>
          <a:ext cx="1127455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Python 3.12 · asyncio · httpx · aio-pika · pydantic v2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Message Broker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RabbitMQ 3.13 · fanout exchange mars.events · durable · persistent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Processing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Python 3.12 · SQLAlchemy 2 async · asyncpg · alembic · httpx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State Cache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Redis 7 · state:{id} TTL=3600 s · pub/sub: mars.events + mars.alerts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PostgreSQL 16 · rules + alerts tables · JSONB columns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API Gateway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FastAPI · Uvicorn · sse-starlette · CORS middleware · pydantic v2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React 18 · TypeScript · Vite · TailwindCSS · Recharts · lucide-react</a:t>
                      </a:r>
                    </a:p>
                  </a:txBody>
                  <a:tcPr>
                    <a:solidFill>
                      <a:srgbClr val="131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IaC / Serving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Calibri"/>
                        </a:rPr>
                        <a:t>Docker Compose · nginx · 8 containers · named volumes · healthchecks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4745736"/>
            <a:ext cx="2108606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4745736"/>
            <a:ext cx="210860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4837176"/>
            <a:ext cx="21086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367528"/>
            <a:ext cx="21086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Containers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5262" y="4745736"/>
            <a:ext cx="2108606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5262" y="4745736"/>
            <a:ext cx="210860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5262" y="4837176"/>
            <a:ext cx="21086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5262" y="5367528"/>
            <a:ext cx="21086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Backend
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0172" y="4745736"/>
            <a:ext cx="2108606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0172" y="4745736"/>
            <a:ext cx="210860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0172" y="4837176"/>
            <a:ext cx="21086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5367528"/>
            <a:ext cx="21086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User Stories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5083" y="4745736"/>
            <a:ext cx="2108606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5083" y="4745736"/>
            <a:ext cx="210860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5083" y="4837176"/>
            <a:ext cx="21086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5083" y="5367528"/>
            <a:ext cx="21086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docker
compose 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9993" y="4745736"/>
            <a:ext cx="2108606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49993" y="4745736"/>
            <a:ext cx="2108606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49993" y="4837176"/>
            <a:ext cx="21086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9993" y="5367528"/>
            <a:ext cx="210860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🐳  Infrastructure as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</a:t>
            </a:r>
            <a:endParaRPr lang="it-IT" sz="900" b="0" i="0" dirty="0">
              <a:solidFill>
                <a:srgbClr val="94A3B8"/>
              </a:solidFill>
              <a:latin typeface="Calibri"/>
            </a:endParaRPr>
          </a:p>
          <a:p>
            <a:pPr algn="l"/>
            <a:endParaRPr sz="9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86968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One Command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71500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325880"/>
            <a:ext cx="5486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4D399"/>
                </a:solidFill>
                <a:latin typeface="Courier New"/>
              </a:rPr>
              <a:t># One-time: load the OCI simulator image
./source/load-image.sh
# Start the entire platform
cd source &amp;&amp; docker compose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Startup Dependency Chain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26664"/>
            <a:ext cx="571500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26664"/>
            <a:ext cx="64008" cy="5303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1455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🟣 rabbitmq  ·  ⚡ redis  ·  🐘 postgres  ·  🔴 simulator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570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↓  condition: service_healthy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58184"/>
            <a:ext cx="571500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58184"/>
            <a:ext cx="64008" cy="5303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38770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🔵 collector   ·   🟠 rules-engine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88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↓  condition: service_healthy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9704"/>
            <a:ext cx="571500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489704"/>
            <a:ext cx="64008" cy="5303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6085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🩵 api  :8000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0200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↓  condition: service_healthy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21224"/>
            <a:ext cx="5715000" cy="53035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221224"/>
            <a:ext cx="64008" cy="5303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" y="534009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🟢 frontend  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886968"/>
            <a:ext cx="5239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Named Volumes &amp; Persistence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234440"/>
            <a:ext cx="5239512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1234440"/>
            <a:ext cx="64008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56832" y="1325880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🗄️  pg_data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1691640"/>
            <a:ext cx="5010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Rules + alerts persist across restarts
US 18 — rule persistence verified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551176"/>
            <a:ext cx="5239512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551176"/>
            <a:ext cx="64008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2" y="2642616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📨  rabbitmq_data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3008376"/>
            <a:ext cx="5010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Durable queue messages survive broker restart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867912"/>
            <a:ext cx="5239512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92240" y="3867912"/>
            <a:ext cx="64008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56832" y="3959352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redis_data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325112"/>
            <a:ext cx="50109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State cache repopulates from RabbitMQ stream
within seconds on 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257800"/>
            <a:ext cx="5239512" cy="548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5257800"/>
            <a:ext cx="6400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56832" y="5349240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 manual steps after  docker compose up
Alembic upgrade head runs automatically on boot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💡  Lessons Learned &amp;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  <a:endParaRPr lang="it-IT" sz="9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869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Calibri"/>
              </a:rPr>
              <a:t>⚠️  Engineering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8869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C55E"/>
                </a:solidFill>
                <a:latin typeface="Calibri"/>
              </a:rPr>
              <a:t>✅  Key Design 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52728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252728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1325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Schema diversity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673352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8 raw device formats required a dispatcher pattern: each schema maps to its own handler in the collector normaliser.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252728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5352" y="1252728"/>
            <a:ext cx="64008" cy="11155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3258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Fanout exchange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1673352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Collector publishes once → any new service binds its own anonymous queue. Zero collector changes to extend the system.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59736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459736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53288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SSE double reconnection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2880360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Both collector (→ simulator) and frontend (→ API) need independent 3 s auto-retry loops to survive drops.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459736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2459736"/>
            <a:ext cx="64008" cy="11155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9944" y="2532888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Redis pub/sub relay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2880360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True zero-latency push from rules-engine to API SSE clients — no polling, no sleep loops needed.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66744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3666744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37398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Blank dashboard on 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087368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Opening SSE first = empty cards for up to 5 s. Fix: pre-fetch GET /api/state/ before opening EventSource.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5352" y="3666744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45352" y="3666744"/>
            <a:ext cx="64008" cy="11155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9944" y="3739896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Alembic on boot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087368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alembic upgrade head at rules-engine startup: DB schema always in sync, no manual migration step ever required.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73752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73752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49469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JSONB alert filtering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5294376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Used PostgreSQL @&gt; containment operator to filter source_id inside the stored JSONB event blob.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4873752"/>
            <a:ext cx="5486400" cy="11155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45352" y="4873752"/>
            <a:ext cx="64008" cy="11155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4946904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Exclusive anonymous queues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9944" y="5294376"/>
            <a:ext cx="5257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Auto-deleted on consumer restart: no stale messages accumulate. Broker stays clean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2188952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"/>
            <a:ext cx="11338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7316"/>
                </a:solidFill>
                <a:latin typeface="Calibri"/>
              </a:rPr>
              <a:t>🎬 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68096"/>
            <a:ext cx="11274552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5486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Mars Operations  ·  Hackathon March 2026  </a:t>
            </a:r>
            <a:endParaRPr lang="it-IT" sz="90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84280" y="664768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97316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8696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Demo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89304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28930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125272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docker compose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25272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all 8 containers reach healthy state in dependency 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47672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94767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191109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191109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cards populate instantly (US 4 pre-fetch); values live every 5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256946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Power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569464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6 Recharts live line charts with rolling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64408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26440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227832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Actuators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22783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toggle  cooling_fan  ON → OFF; optimistic + 5 s auto-confirm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22776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9227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88620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388620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create:  greenhouse_temperature &gt; 28 → cooling_fan ON  (US 13)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81144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58114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54456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Alerts 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54456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alert appears live via SSE; filter by rule / source_id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39512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23951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20293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520293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— down &amp;&amp; up → rules still there ✅  (US 18 verified)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886968"/>
            <a:ext cx="4005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B923C"/>
                </a:solidFill>
                <a:latin typeface="Calibri"/>
              </a:rPr>
              <a:t>Endpoints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252728"/>
            <a:ext cx="4005072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772400" y="1252728"/>
            <a:ext cx="64008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36992" y="1325880"/>
            <a:ext cx="3776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  <a:latin typeface="Courier New"/>
              </a:rPr>
              <a:t>🖥️  http://localhost:3000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992" y="1709928"/>
            <a:ext cx="3776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React 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2185416"/>
            <a:ext cx="4005072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772400" y="2185416"/>
            <a:ext cx="64008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36992" y="2258568"/>
            <a:ext cx="3776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0A5FA"/>
                </a:solidFill>
                <a:latin typeface="Courier New"/>
              </a:rPr>
              <a:t>📖  http://localhost:8000/docs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6992" y="2642616"/>
            <a:ext cx="3776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FastAPI Swagger / ReDoc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118104"/>
            <a:ext cx="4005072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772400" y="3118104"/>
            <a:ext cx="64008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36992" y="3191256"/>
            <a:ext cx="3776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855F7"/>
                </a:solidFill>
                <a:latin typeface="Courier New"/>
              </a:rPr>
              <a:t>📨  http://localhost:15672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6992" y="3575304"/>
            <a:ext cx="3776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RabbitMQ Management  (guest/guest)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27264" y="4050792"/>
            <a:ext cx="1225296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27264" y="4105656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97316"/>
                </a:solidFill>
                <a:latin typeface="Calibri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7264" y="4581144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User Stories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62288" y="4050792"/>
            <a:ext cx="1225296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62288" y="4105656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97316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62288" y="4581144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Containers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97312" y="4050792"/>
            <a:ext cx="1225296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97312" y="4105656"/>
            <a:ext cx="12252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97316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97312" y="4581144"/>
            <a:ext cx="12252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Days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4983480"/>
            <a:ext cx="4005072" cy="69494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0" y="5038344"/>
            <a:ext cx="40050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1 command  ·  0 manual setup
No blank screens.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1756</Words>
  <Application>Microsoft Macintosh PowerPoint</Application>
  <PresentationFormat>Personalizzato</PresentationFormat>
  <Paragraphs>275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TERESA VILLA</cp:lastModifiedBy>
  <cp:revision>4</cp:revision>
  <dcterms:created xsi:type="dcterms:W3CDTF">2013-01-27T09:14:16Z</dcterms:created>
  <dcterms:modified xsi:type="dcterms:W3CDTF">2026-03-10T11:04:16Z</dcterms:modified>
  <cp:category/>
</cp:coreProperties>
</file>