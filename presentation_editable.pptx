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Mars Operations — Distributed IoT Automation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Student ID: 2082600 · MarsTok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Hackathon — March 2026 · Lab of Advanced Programming 2025/2026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Mars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Distributed IoT Automation Platform</a:t>
            </a:r>
          </a:p>
          <a:p>
            <a:pPr lvl="0" indent="0" marL="0">
              <a:buNone/>
            </a:pPr>
            <a:r>
              <a:rPr/>
              <a:t>Lab of Advanced Programming 2025/2026 · Hackathon — March 2026</a:t>
            </a:r>
          </a:p>
          <a:p>
            <a:pPr lvl="0" indent="0" marL="0">
              <a:buNone/>
            </a:pPr>
            <a:r>
              <a:rPr/>
              <a:t>Student ID: </a:t>
            </a:r>
            <a:r>
              <a:rPr b="1"/>
              <a:t>2082600</a:t>
            </a:r>
            <a:r>
              <a:rPr/>
              <a:t> · Project: </a:t>
            </a:r>
            <a:r>
              <a:rPr b="1"/>
              <a:t>MarsTok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“Mars 2036. Your automation stack is partially destroyed. Devices speak incompatible dialects. Rebuild it — or face thermodynamic consequences.”</a:t>
            </a:r>
          </a:p>
          <a:p>
            <a:pPr lvl="0" indent="0" marL="0">
              <a:buNone/>
            </a:pPr>
            <a:r>
              <a:rPr b="1"/>
              <a:t>The Challenge</a:t>
            </a:r>
          </a:p>
          <a:p>
            <a:pPr lvl="0"/>
            <a:r>
              <a:rPr/>
              <a:t>15 devices, 8 raw JSON schemas, two transport protocols</a:t>
            </a:r>
          </a:p>
          <a:p>
            <a:pPr lvl="0"/>
            <a:r>
              <a:rPr/>
              <a:t>REST polling + persistent SSE streams — no unified format</a:t>
            </a:r>
          </a:p>
          <a:p>
            <a:pPr lvl="0"/>
            <a:r>
              <a:rPr/>
              <a:t>Operators face a blank dashboard on page load</a:t>
            </a:r>
          </a:p>
          <a:p>
            <a:pPr lvl="0"/>
            <a:r>
              <a:rPr/>
              <a:t>Automation must fire without human intervention</a:t>
            </a:r>
          </a:p>
          <a:p>
            <a:pPr lvl="0"/>
            <a:r>
              <a:rPr/>
              <a:t>Configuration must survive service restarts</a:t>
            </a:r>
          </a:p>
          <a:p>
            <a:pPr lvl="0" indent="0" marL="0">
              <a:buNone/>
            </a:pPr>
            <a:r>
              <a:rPr b="1"/>
              <a:t>Our Solution</a:t>
            </a:r>
          </a:p>
          <a:p>
            <a:pPr lvl="0"/>
            <a:r>
              <a:rPr/>
              <a:t>Unified </a:t>
            </a:r>
            <a:r>
              <a:rPr b="1"/>
              <a:t>InternalEvent</a:t>
            </a:r>
            <a:r>
              <a:rPr/>
              <a:t> normalisation layer</a:t>
            </a:r>
          </a:p>
          <a:p>
            <a:pPr lvl="0"/>
            <a:r>
              <a:rPr/>
              <a:t>Event-driven pipeline via </a:t>
            </a:r>
            <a:r>
              <a:rPr b="1"/>
              <a:t>RabbitMQ</a:t>
            </a:r>
            <a:r>
              <a:rPr/>
              <a:t> fanout exchange</a:t>
            </a:r>
          </a:p>
          <a:p>
            <a:pPr lvl="0"/>
            <a:r>
              <a:rPr b="1"/>
              <a:t>IF-THEN rule engine</a:t>
            </a:r>
            <a:r>
              <a:rPr/>
              <a:t> — auto-triggers actuators</a:t>
            </a:r>
          </a:p>
          <a:p>
            <a:pPr lvl="0"/>
            <a:r>
              <a:rPr/>
              <a:t>React dashboard with </a:t>
            </a:r>
            <a:r>
              <a:rPr b="1"/>
              <a:t>live SSE push</a:t>
            </a:r>
          </a:p>
          <a:p>
            <a:pPr lvl="0"/>
            <a:r>
              <a:rPr/>
              <a:t>Full </a:t>
            </a:r>
            <a:r>
              <a:rPr b="1"/>
              <a:t>Docker Compose IaC</a:t>
            </a:r>
            <a:r>
              <a:rPr/>
              <a:t> — one command start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🏗️ System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Flow (top to bottom)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mars-iot-simulator :8080</a:t>
            </a:r>
            <a:r>
              <a:rPr/>
              <a:t> — 8 REST sensors + 7 SSE telemetry topics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collector</a:t>
            </a:r>
            <a:r>
              <a:rPr/>
              <a:t> — Python 3.12 asyncio — polls + streams + normalises (8 schemas) + publishes</a:t>
            </a:r>
          </a:p>
          <a:p>
            <a:pPr lvl="0" indent="-342900" marL="342900">
              <a:buAutoNum type="arabicPeriod"/>
            </a:pPr>
            <a:r>
              <a:rPr/>
              <a:t>RabbitMQ 3.13 — fanout exchange </a:t>
            </a:r>
            <a:r>
              <a:rPr>
                <a:latin typeface="Courier"/>
              </a:rPr>
              <a:t>mars.events</a:t>
            </a:r>
            <a:r>
              <a:rPr/>
              <a:t> — durable, persistent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rules-engine</a:t>
            </a:r>
            <a:r>
              <a:rPr/>
              <a:t> — Python 3.12 asyncio — cache state → evaluate rules → actuate → persist alerts → publish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api</a:t>
            </a:r>
            <a:r>
              <a:rPr/>
              <a:t> — FastAPI :8000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frontend</a:t>
            </a:r>
            <a:r>
              <a:rPr/>
              <a:t> — React 18 :3000</a:t>
            </a:r>
          </a:p>
          <a:p>
            <a:pPr lvl="0" indent="0" marL="0">
              <a:buNone/>
            </a:pPr>
            <a:r>
              <a:rPr b="1"/>
              <a:t>Infrastructure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RabbitMQ 3.13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fanout </a:t>
                      </a:r>
                      <a:r>
                        <a:rPr>
                          <a:latin typeface="Courier"/>
                        </a:rPr>
                        <a:t>mars.events</a:t>
                      </a:r>
                      <a:r>
                        <a:rPr/>
                        <a:t> · durable · persistent delivery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Redis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state:{id}</a:t>
                      </a:r>
                      <a:r>
                        <a:rPr/>
                        <a:t> TTL=3600 s · pub/sub: </a:t>
                      </a:r>
                      <a:r>
                        <a:rPr>
                          <a:latin typeface="Courier"/>
                        </a:rPr>
                        <a:t>mars.events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mars.alerts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 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tables: </a:t>
                      </a:r>
                      <a:r>
                        <a:rPr>
                          <a:latin typeface="Courier"/>
                        </a:rPr>
                        <a:t>rules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alerts</a:t>
                      </a:r>
                      <a:r>
                        <a:rPr/>
                        <a:t> · JSONB columns · Alembic migrations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Data Pipeline &amp; Unified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7-Step Pipeline</a:t>
            </a:r>
          </a:p>
          <a:p>
            <a:pPr lvl="0" indent="-342900" marL="342900">
              <a:buAutoNum type="arabicPeriod"/>
            </a:pPr>
            <a:r>
              <a:rPr b="1"/>
              <a:t>Ingest</a:t>
            </a:r>
            <a:r>
              <a:rPr/>
              <a:t> — poll 8 REST sensors every 5 s; maintain 7 persistent SSE connections</a:t>
            </a:r>
          </a:p>
          <a:p>
            <a:pPr lvl="0" indent="-342900" marL="342900">
              <a:buAutoNum type="arabicPeriod"/>
            </a:pPr>
            <a:r>
              <a:rPr b="1"/>
              <a:t>Normalise</a:t>
            </a:r>
            <a:r>
              <a:rPr/>
              <a:t> — 8 raw schemas → 1 </a:t>
            </a:r>
            <a:r>
              <a:rPr>
                <a:latin typeface="Courier"/>
              </a:rPr>
              <a:t>InternalEvent</a:t>
            </a:r>
            <a:r>
              <a:rPr/>
              <a:t> via dispatcher</a:t>
            </a:r>
          </a:p>
          <a:p>
            <a:pPr lvl="0" indent="-342900" marL="342900">
              <a:buAutoNum type="arabicPeriod"/>
            </a:pPr>
            <a:r>
              <a:rPr b="1"/>
              <a:t>Publish</a:t>
            </a:r>
            <a:r>
              <a:rPr/>
              <a:t> — PERSISTENT to RabbitMQ fanout </a:t>
            </a:r>
            <a:r>
              <a:rPr>
                <a:latin typeface="Courier"/>
              </a:rPr>
              <a:t>mars.events</a:t>
            </a:r>
          </a:p>
          <a:p>
            <a:pPr lvl="0" indent="-342900" marL="342900">
              <a:buAutoNum type="arabicPeriod"/>
            </a:pPr>
            <a:r>
              <a:rPr b="1"/>
              <a:t>Process</a:t>
            </a:r>
            <a:r>
              <a:rPr/>
              <a:t> — write </a:t>
            </a:r>
            <a:r>
              <a:rPr>
                <a:latin typeface="Courier"/>
              </a:rPr>
              <a:t>state:{id}</a:t>
            </a:r>
            <a:r>
              <a:rPr/>
              <a:t> to Redis TTL=1 h, evaluate all enabled rules</a:t>
            </a:r>
          </a:p>
          <a:p>
            <a:pPr lvl="0" indent="-342900" marL="342900">
              <a:buAutoNum type="arabicPeriod"/>
            </a:pPr>
            <a:r>
              <a:rPr b="1"/>
              <a:t>Alert</a:t>
            </a:r>
            <a:r>
              <a:rPr/>
              <a:t> — POST actuator to simulator + INSERT PostgreSQL + PUBLISH Redis</a:t>
            </a:r>
          </a:p>
          <a:p>
            <a:pPr lvl="0" indent="-342900" marL="342900">
              <a:buAutoNum type="arabicPeriod"/>
            </a:pPr>
            <a:r>
              <a:rPr b="1"/>
              <a:t>Stream</a:t>
            </a:r>
            <a:r>
              <a:rPr/>
              <a:t> — API subscribes Redis pub/sub → relays named SSE events</a:t>
            </a:r>
          </a:p>
          <a:p>
            <a:pPr lvl="0" indent="-342900" marL="342900">
              <a:buAutoNum type="arabicPeriod"/>
            </a:pPr>
            <a:r>
              <a:rPr b="1"/>
              <a:t>Render</a:t>
            </a:r>
            <a:r>
              <a:rPr/>
              <a:t> — </a:t>
            </a:r>
            <a:r>
              <a:rPr>
                <a:latin typeface="Courier"/>
              </a:rPr>
              <a:t>useSSE</a:t>
            </a:r>
            <a:r>
              <a:rPr/>
              <a:t> pre-fetches state on load, then merges live stream</a:t>
            </a:r>
          </a:p>
          <a:p>
            <a:pPr lvl="0" indent="0" marL="0">
              <a:buNone/>
            </a:pPr>
            <a:r>
              <a:rPr b="1"/>
              <a:t>InternalEvent Schema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"event_id"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"550e8400-..."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"timestamp"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</a:t>
            </a:r>
            <a:r>
              <a:rPr>
                <a:solidFill>
                  <a:srgbClr val="4070A0"/>
                </a:solidFill>
                <a:latin typeface="Courier"/>
              </a:rPr>
              <a:t>"2026-03-06T12:00:00Z"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"source_id"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</a:t>
            </a:r>
            <a:r>
              <a:rPr>
                <a:solidFill>
                  <a:srgbClr val="4070A0"/>
                </a:solidFill>
                <a:latin typeface="Courier"/>
              </a:rPr>
              <a:t>"greenhouse_temperature"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"source_type"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"rest_sensor"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"category"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"environment"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"metrics"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"value"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22.5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"unit"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"degC"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"status"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"ok | warning | null"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"raw_schema"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"rest.scalar.v1"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8 schemas handled: </a:t>
            </a:r>
            <a:r>
              <a:rPr>
                <a:latin typeface="Courier"/>
              </a:rPr>
              <a:t>rest.scalar.v1</a:t>
            </a:r>
            <a:r>
              <a:rPr/>
              <a:t> · </a:t>
            </a:r>
            <a:r>
              <a:rPr>
                <a:latin typeface="Courier"/>
              </a:rPr>
              <a:t>rest.chemistry.v1</a:t>
            </a:r>
            <a:r>
              <a:rPr/>
              <a:t> · </a:t>
            </a:r>
            <a:r>
              <a:rPr>
                <a:latin typeface="Courier"/>
              </a:rPr>
              <a:t>rest.level.v1</a:t>
            </a:r>
            <a:r>
              <a:rPr/>
              <a:t> · </a:t>
            </a:r>
            <a:r>
              <a:rPr>
                <a:latin typeface="Courier"/>
              </a:rPr>
              <a:t>rest.particulate.v1</a:t>
            </a:r>
            <a:r>
              <a:rPr/>
              <a:t> · </a:t>
            </a:r>
            <a:r>
              <a:rPr>
                <a:latin typeface="Courier"/>
              </a:rPr>
              <a:t>topic.power.v1</a:t>
            </a:r>
            <a:r>
              <a:rPr/>
              <a:t> · </a:t>
            </a:r>
            <a:r>
              <a:rPr>
                <a:latin typeface="Courier"/>
              </a:rPr>
              <a:t>topic.environment.v1</a:t>
            </a:r>
            <a:r>
              <a:rPr/>
              <a:t> · </a:t>
            </a:r>
            <a:r>
              <a:rPr>
                <a:latin typeface="Courier"/>
              </a:rPr>
              <a:t>topic.thermal_loop.v1</a:t>
            </a:r>
            <a:r>
              <a:rPr/>
              <a:t> · </a:t>
            </a:r>
            <a:r>
              <a:rPr>
                <a:latin typeface="Courier"/>
              </a:rPr>
              <a:t>topic.airlock.v1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⚙️ Automation Engine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Rule Model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"High Temp → Cooling Fan ON"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"enabled"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"condition"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"source_id"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"greenhouse_temperature"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"metric"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"operator"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"&gt;"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"threshold"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35.0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"actuator_name"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"cooling_fan"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"state"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"ON"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Evaluated on </a:t>
            </a:r>
            <a:r>
              <a:rPr b="1"/>
              <a:t>every</a:t>
            </a:r>
            <a:r>
              <a:rPr/>
              <a:t> incoming event — </a:t>
            </a:r>
            <a:r>
              <a:rPr>
                <a:latin typeface="Courier"/>
              </a:rPr>
              <a:t>SELECT * FROM rules WHERE enabled = true</a:t>
            </a:r>
          </a:p>
          <a:p>
            <a:pPr lvl="0" indent="0" marL="0">
              <a:buNone/>
            </a:pPr>
            <a:r>
              <a:rPr b="1"/>
              <a:t>Supported Operators:</a:t>
            </a:r>
            <a:r>
              <a:rPr/>
              <a:t> </a:t>
            </a:r>
            <a:r>
              <a:rPr>
                <a:latin typeface="Courier"/>
              </a:rPr>
              <a:t>&gt;</a:t>
            </a:r>
            <a:r>
              <a:rPr/>
              <a:t> gt · </a:t>
            </a:r>
            <a:r>
              <a:rPr>
                <a:latin typeface="Courier"/>
              </a:rPr>
              <a:t>&lt;</a:t>
            </a:r>
            <a:r>
              <a:rPr/>
              <a:t> lt · </a:t>
            </a:r>
            <a:r>
              <a:rPr>
                <a:latin typeface="Courier"/>
              </a:rPr>
              <a:t>&gt;=</a:t>
            </a:r>
            <a:r>
              <a:rPr/>
              <a:t> gte · </a:t>
            </a:r>
            <a:r>
              <a:rPr>
                <a:latin typeface="Courier"/>
              </a:rPr>
              <a:t>&lt;=</a:t>
            </a:r>
            <a:r>
              <a:rPr/>
              <a:t> lte · </a:t>
            </a:r>
            <a:r>
              <a:rPr>
                <a:latin typeface="Courier"/>
              </a:rPr>
              <a:t>=</a:t>
            </a:r>
            <a:r>
              <a:rPr/>
              <a:t> eq · </a:t>
            </a:r>
            <a:r>
              <a:rPr>
                <a:latin typeface="Courier"/>
              </a:rPr>
              <a:t>!=</a:t>
            </a:r>
            <a:r>
              <a:rPr/>
              <a:t> neq</a:t>
            </a:r>
          </a:p>
          <a:p>
            <a:pPr lvl="0" indent="0" marL="0">
              <a:buNone/>
            </a:pPr>
            <a:r>
              <a:rPr b="1"/>
              <a:t>Rule Lifecycle (CRUD)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 /api/rules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 / 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 /api/rules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PUT /api/rules/{id}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Toggle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PATCH /api/rules/{id}/toggle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DELETE /api/rules/{id}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Persisted in PostgreSQL — survive </a:t>
            </a:r>
            <a:r>
              <a:rPr>
                <a:latin typeface="Courier"/>
              </a:rPr>
              <a:t>docker compose down</a:t>
            </a:r>
            <a:r>
              <a:rPr/>
              <a:t> · Alembic migration runs automatically on boot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🖥️ Frontend Dashboard — 7 Pages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Stories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sensor cards · live SSE · ok/warning status badges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1, 2, 3, 4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live Recharts line charts (solar array, power bus, consumption)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Radiation + life support cards at top · REST sensor widgets below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6, 9, 10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Airlock &amp; Thermal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badge IDLE / PRESSURIZING / DEPRESSURIZING · thermal charts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Actuators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ON/OFF toggle cards for all 4 actuators · 5 s auto-refresh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RuleForm dialog + RuleTable · full CRUD + enable/disable toggle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13–18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Alerts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Timeline · rule/source dropdowns · SSE live prepend · pagination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19, 20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Real-time Data Flow</a:t>
            </a:r>
          </a:p>
          <a:p>
            <a:pPr lvl="0" indent="0" marL="0">
              <a:buNone/>
            </a:pPr>
            <a:r>
              <a:rPr/>
              <a:t>Page load → </a:t>
            </a:r>
            <a:r>
              <a:rPr>
                <a:latin typeface="Courier"/>
              </a:rPr>
              <a:t>GET /api/state/</a:t>
            </a:r>
            <a:r>
              <a:rPr/>
              <a:t> (pre-fetch all states) → </a:t>
            </a:r>
            <a:r>
              <a:rPr>
                <a:latin typeface="Courier"/>
              </a:rPr>
              <a:t>EventSource /api/stream</a:t>
            </a:r>
            <a:r>
              <a:rPr/>
              <a:t> (persistent SSE) → </a:t>
            </a:r>
            <a:r>
              <a:rPr>
                <a:latin typeface="Courier"/>
              </a:rPr>
              <a:t>sensor_update</a:t>
            </a:r>
            <a:r>
              <a:rPr/>
              <a:t> (update state map) + </a:t>
            </a:r>
            <a:r>
              <a:rPr>
                <a:latin typeface="Courier"/>
              </a:rPr>
              <a:t>alert</a:t>
            </a:r>
            <a:r>
              <a:rPr/>
              <a:t> (prepend to list) → 3 s auto-reconnect on disconnect</a:t>
            </a:r>
          </a:p>
          <a:p>
            <a:pPr lvl="0" indent="0" marL="0">
              <a:buNone/>
            </a:pPr>
            <a:r>
              <a:rPr/>
              <a:t>React 18 · TypeScript · Vite · TailwindCSS · Recharts · lucide-react · react-router-dom v6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🔧 Technology 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3.12 · asyncio · httpx · aio-pika · pydantic v2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Message Broker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RabbitMQ 3.13 · fanout exchange · durable · persistent delivery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Processing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3.12 · SQLAlchemy 2 async · asyncpg · alembic · httpx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State Cache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Redis 7 · </a:t>
                      </a:r>
                      <a:r>
                        <a:rPr>
                          <a:latin typeface="Courier"/>
                        </a:rPr>
                        <a:t>state:{id}</a:t>
                      </a:r>
                      <a:r>
                        <a:rPr/>
                        <a:t> TTL=3600 s · pub/sub channels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 16 · </a:t>
                      </a:r>
                      <a:r>
                        <a:rPr>
                          <a:latin typeface="Courier"/>
                        </a:rPr>
                        <a:t>rules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alerts</a:t>
                      </a:r>
                      <a:r>
                        <a:rPr/>
                        <a:t> tables · JSONB columns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API Gateway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FastAPI · Uvicorn · sse-starlette · CORS middleware · pydantic v2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18 · TypeScript · Vite · TailwindCSS · Recharts · lucide-react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IaC / Serving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 Compose · nginx · 8 containers · named volumes · healthchecks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Stats:</a:t>
            </a:r>
            <a:r>
              <a:rPr/>
              <a:t> 8 Containers · 3 Backend Services · 20 User Stories · 1 </a:t>
            </a:r>
            <a:r>
              <a:rPr>
                <a:latin typeface="Courier"/>
              </a:rPr>
              <a:t>docker compose up</a:t>
            </a:r>
            <a:r>
              <a:rPr/>
              <a:t> · 5 Days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🐳 Infrastructure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Command Start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One-time: load the simulator OCI image</a:t>
            </a:r>
            <a:br/>
            <a:r>
              <a:rPr>
                <a:latin typeface="Courier"/>
              </a:rPr>
              <a:t>./source/load-image.sh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Start the entire platform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source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docker compose up</a:t>
            </a:r>
          </a:p>
          <a:p>
            <a:pPr lvl="0" indent="0" marL="0">
              <a:buNone/>
            </a:pPr>
            <a:r>
              <a:rPr b="1"/>
              <a:t>Startup Dependency Chain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rabbitmq</a:t>
            </a:r>
            <a:r>
              <a:rPr/>
              <a:t> + </a:t>
            </a:r>
            <a:r>
              <a:rPr>
                <a:latin typeface="Courier"/>
              </a:rPr>
              <a:t>redis</a:t>
            </a:r>
            <a:r>
              <a:rPr/>
              <a:t> + </a:t>
            </a:r>
            <a:r>
              <a:rPr>
                <a:latin typeface="Courier"/>
              </a:rPr>
              <a:t>postgres</a:t>
            </a:r>
            <a:r>
              <a:rPr/>
              <a:t> + </a:t>
            </a:r>
            <a:r>
              <a:rPr>
                <a:latin typeface="Courier"/>
              </a:rPr>
              <a:t>simulator</a:t>
            </a:r>
            <a:r>
              <a:rPr/>
              <a:t> (all healthy) → </a:t>
            </a:r>
            <a:r>
              <a:rPr>
                <a:latin typeface="Courier"/>
              </a:rPr>
              <a:t>collector</a:t>
            </a:r>
            <a:r>
              <a:rPr/>
              <a:t> + </a:t>
            </a:r>
            <a:r>
              <a:rPr>
                <a:latin typeface="Courier"/>
              </a:rPr>
              <a:t>rules-engine</a:t>
            </a:r>
            <a:r>
              <a:rPr/>
              <a:t> → </a:t>
            </a:r>
            <a:r>
              <a:rPr>
                <a:latin typeface="Courier"/>
              </a:rPr>
              <a:t>api :8000</a:t>
            </a:r>
            <a:r>
              <a:rPr/>
              <a:t> → </a:t>
            </a:r>
            <a:r>
              <a:rPr>
                <a:latin typeface="Courier"/>
              </a:rPr>
              <a:t>frontend :3000</a:t>
            </a:r>
          </a:p>
          <a:p>
            <a:pPr lvl="0" indent="0" marL="0">
              <a:buNone/>
            </a:pPr>
            <a:r>
              <a:rPr b="1"/>
              <a:t>Named Volumes</a:t>
            </a:r>
          </a:p>
          <a:p>
            <a:pPr lvl="0"/>
            <a:r>
              <a:rPr>
                <a:latin typeface="Courier"/>
              </a:rPr>
              <a:t>pg_data</a:t>
            </a:r>
            <a:r>
              <a:rPr/>
              <a:t> — Rules + alerts persist across restarts (US 18 — rule persistence)</a:t>
            </a:r>
          </a:p>
          <a:p>
            <a:pPr lvl="0"/>
            <a:r>
              <a:rPr>
                <a:latin typeface="Courier"/>
              </a:rPr>
              <a:t>rabbitmq_data</a:t>
            </a:r>
            <a:r>
              <a:rPr/>
              <a:t> — Durable messages survive broker restart</a:t>
            </a:r>
          </a:p>
          <a:p>
            <a:pPr lvl="0"/>
            <a:r>
              <a:rPr>
                <a:latin typeface="Courier"/>
              </a:rPr>
              <a:t>redis_data</a:t>
            </a:r>
            <a:r>
              <a:rPr/>
              <a:t> — Cache repopulates within seconds on loss</a:t>
            </a:r>
          </a:p>
          <a:p>
            <a:pPr lvl="0" indent="0" marL="0">
              <a:buNone/>
            </a:pPr>
            <a:r>
              <a:rPr/>
              <a:t>No manual steps after </a:t>
            </a:r>
            <a:r>
              <a:rPr>
                <a:latin typeface="Courier"/>
              </a:rPr>
              <a:t>docker compose up</a:t>
            </a:r>
            <a:r>
              <a:rPr/>
              <a:t> · Alembic migrations run automatically on boot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⚠️ Challenges</a:t>
            </a:r>
          </a:p>
          <a:p>
            <a:pPr lvl="0"/>
            <a:r>
              <a:rPr b="1"/>
              <a:t>Schema diversity</a:t>
            </a:r>
            <a:r>
              <a:rPr/>
              <a:t> — 8 raw formats required a dispatcher pattern in the normalizer; each schema maps to its own handler function</a:t>
            </a:r>
          </a:p>
          <a:p>
            <a:pPr lvl="0"/>
            <a:r>
              <a:rPr b="1"/>
              <a:t>SSE double reconnection</a:t>
            </a:r>
            <a:r>
              <a:rPr/>
              <a:t> — both collector (→ simulator) and frontend (→ API) needed independent 3 s auto-retry loops</a:t>
            </a:r>
          </a:p>
          <a:p>
            <a:pPr lvl="0"/>
            <a:r>
              <a:rPr b="1"/>
              <a:t>Blank dashboard on load</a:t>
            </a:r>
            <a:r>
              <a:rPr/>
              <a:t> — opening SSE first = empty cards for up to 5 s; fix: pre-fetch </a:t>
            </a:r>
            <a:r>
              <a:rPr>
                <a:latin typeface="Courier"/>
              </a:rPr>
              <a:t>GET /api/state/</a:t>
            </a:r>
            <a:r>
              <a:rPr/>
              <a:t> </a:t>
            </a:r>
            <a:r>
              <a:rPr i="1"/>
              <a:t>before</a:t>
            </a:r>
            <a:r>
              <a:rPr/>
              <a:t> opening </a:t>
            </a:r>
            <a:r>
              <a:rPr>
                <a:latin typeface="Courier"/>
              </a:rPr>
              <a:t>EventSource</a:t>
            </a:r>
          </a:p>
          <a:p>
            <a:pPr lvl="0"/>
            <a:r>
              <a:rPr b="1"/>
              <a:t>JSONB alert filtering</a:t>
            </a:r>
            <a:r>
              <a:rPr/>
              <a:t> — used PostgreSQL </a:t>
            </a:r>
            <a:r>
              <a:rPr>
                <a:latin typeface="Courier"/>
              </a:rPr>
              <a:t>@&gt;</a:t>
            </a:r>
            <a:r>
              <a:rPr/>
              <a:t> containment operator to filter </a:t>
            </a:r>
            <a:r>
              <a:rPr>
                <a:latin typeface="Courier"/>
              </a:rPr>
              <a:t>source_id</a:t>
            </a:r>
            <a:r>
              <a:rPr/>
              <a:t> inside the stored JSONB event</a:t>
            </a:r>
          </a:p>
          <a:p>
            <a:pPr lvl="0" indent="0" marL="0">
              <a:buNone/>
            </a:pPr>
            <a:r>
              <a:rPr b="1"/>
              <a:t>✅ Design Decisions</a:t>
            </a:r>
          </a:p>
          <a:p>
            <a:pPr lvl="0"/>
            <a:r>
              <a:rPr b="1"/>
              <a:t>Fanout exchange</a:t>
            </a:r>
            <a:r>
              <a:rPr/>
              <a:t> — collector publishes once → any consumer binds its own queue; zero collector changes to add a new service</a:t>
            </a:r>
          </a:p>
          <a:p>
            <a:pPr lvl="0"/>
            <a:r>
              <a:rPr b="1"/>
              <a:t>Redis pub/sub relay</a:t>
            </a:r>
            <a:r>
              <a:rPr/>
              <a:t> — true zero-latency push from rules-engine to API SSE clients; no polling needed</a:t>
            </a:r>
          </a:p>
          <a:p>
            <a:pPr lvl="0"/>
            <a:r>
              <a:rPr b="1"/>
              <a:t>Alembic on boot</a:t>
            </a:r>
            <a:r>
              <a:rPr/>
              <a:t> — </a:t>
            </a:r>
            <a:r>
              <a:rPr>
                <a:latin typeface="Courier"/>
              </a:rPr>
              <a:t>alembic upgrade head</a:t>
            </a:r>
            <a:r>
              <a:rPr/>
              <a:t> runs at rules-engine startup; schema always in sync, no manual step</a:t>
            </a:r>
          </a:p>
          <a:p>
            <a:pPr lvl="0"/>
            <a:r>
              <a:rPr b="1"/>
              <a:t>Exclusive anonymous queues</a:t>
            </a:r>
            <a:r>
              <a:rPr/>
              <a:t> — no stale messages accumulate on consumer restart; broker stays clean automatically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Demo Script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docker compose up</a:t>
            </a:r>
            <a:r>
              <a:rPr/>
              <a:t> — watch all 8 containers reach healthy state</a:t>
            </a:r>
          </a:p>
          <a:p>
            <a:pPr lvl="0" indent="-342900" marL="342900">
              <a:buAutoNum type="arabicPeriod"/>
            </a:pPr>
            <a:r>
              <a:rPr b="1"/>
              <a:t>Dashboard</a:t>
            </a:r>
            <a:r>
              <a:rPr/>
              <a:t> — cards populate instantly (US 4 pre-fetch); values update every 5 s</a:t>
            </a:r>
          </a:p>
          <a:p>
            <a:pPr lvl="0" indent="-342900" marL="342900">
              <a:buAutoNum type="arabicPeriod"/>
            </a:pPr>
            <a:r>
              <a:rPr b="1"/>
              <a:t>Power page</a:t>
            </a:r>
            <a:r>
              <a:rPr/>
              <a:t> — 6 live line charts; show rolling window updating in real-time</a:t>
            </a:r>
          </a:p>
          <a:p>
            <a:pPr lvl="0" indent="-342900" marL="342900">
              <a:buAutoNum type="arabicPeriod"/>
            </a:pPr>
            <a:r>
              <a:rPr b="1"/>
              <a:t>Actuators</a:t>
            </a:r>
            <a:r>
              <a:rPr/>
              <a:t> — manually toggle </a:t>
            </a:r>
            <a:r>
              <a:rPr>
                <a:latin typeface="Courier"/>
              </a:rPr>
              <a:t>cooling_fan</a:t>
            </a:r>
            <a:r>
              <a:rPr/>
              <a:t> ON → OFF; verify optimistic update</a:t>
            </a:r>
          </a:p>
          <a:p>
            <a:pPr lvl="0" indent="-342900" marL="342900">
              <a:buAutoNum type="arabicPeriod"/>
            </a:pPr>
            <a:r>
              <a:rPr b="1"/>
              <a:t>Rules</a:t>
            </a:r>
            <a:r>
              <a:rPr/>
              <a:t> — create: </a:t>
            </a:r>
            <a:r>
              <a:rPr i="1"/>
              <a:t>greenhouse_temperature &gt; 28 → cooling_fan ON</a:t>
            </a:r>
          </a:p>
          <a:p>
            <a:pPr lvl="0" indent="-342900" marL="342900">
              <a:buAutoNum type="arabicPeriod"/>
            </a:pPr>
            <a:r>
              <a:rPr b="1"/>
              <a:t>Alerts page</a:t>
            </a:r>
            <a:r>
              <a:rPr/>
              <a:t> — alert appears live; filter by rule and source dropdowns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docker compose down &amp;&amp; docker compose up</a:t>
            </a:r>
            <a:r>
              <a:rPr/>
              <a:t> → rules still there ✅ (US 18)</a:t>
            </a:r>
          </a:p>
          <a:p>
            <a:pPr lvl="0" indent="0" marL="0">
              <a:buNone/>
            </a:pPr>
            <a:r>
              <a:rPr b="1"/>
              <a:t>Endpoints</a:t>
            </a:r>
          </a:p>
          <a:p>
            <a:pPr lvl="0"/>
            <a:r>
              <a:rPr>
                <a:latin typeface="Courier"/>
              </a:rPr>
              <a:t>http://localhost:3000</a:t>
            </a:r>
            <a:r>
              <a:rPr/>
              <a:t> — React dashboard</a:t>
            </a:r>
          </a:p>
          <a:p>
            <a:pPr lvl="0"/>
            <a:r>
              <a:rPr>
                <a:latin typeface="Courier"/>
              </a:rPr>
              <a:t>http://localhost:8000/docs</a:t>
            </a:r>
            <a:r>
              <a:rPr/>
              <a:t> — FastAPI interactive docs</a:t>
            </a:r>
          </a:p>
          <a:p>
            <a:pPr lvl="0"/>
            <a:r>
              <a:rPr>
                <a:latin typeface="Courier"/>
              </a:rPr>
              <a:t>http://localhost:15672</a:t>
            </a:r>
            <a:r>
              <a:rPr/>
              <a:t> — RabbitMQ Management UI (guest / guest)</a:t>
            </a:r>
          </a:p>
          <a:p>
            <a:pPr lvl="0" indent="0" marL="0">
              <a:buNone/>
            </a:pPr>
            <a:r>
              <a:rPr b="1"/>
              <a:t>1 command · 0 manual setup · No blank screens.</a:t>
            </a:r>
          </a:p>
          <a:p>
            <a:pPr lvl="0" indent="0" marL="0">
              <a:buNone/>
            </a:pPr>
            <a:r>
              <a:rPr/>
              <a:t>20 User Stories · 8 Containers · 5 Days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 Operations — Distributed IoT Automation Platform</dc:title>
  <dc:creator>Student ID: 2082600 · MarsTok</dc:creator>
  <cp:keywords/>
  <dcterms:created xsi:type="dcterms:W3CDTF">2026-03-07T11:41:13Z</dcterms:created>
  <dcterms:modified xsi:type="dcterms:W3CDTF">2026-03-07T11:41:13Z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Hackathon — March 2026 · Lab of Advanced Programming 2025/2026</vt:lpwstr>
  </property>
</Properties>
</file>