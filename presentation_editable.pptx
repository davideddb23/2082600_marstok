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0" y="0"/>
            <a:ext cx="5056632" cy="685800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0"/>
            <a:ext cx="5056632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132320" y="0"/>
            <a:ext cx="22860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219456"/>
            <a:ext cx="50566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9731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822960"/>
            <a:ext cx="5056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Containers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52360" y="1444752"/>
            <a:ext cx="4416552" cy="1645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1572768"/>
            <a:ext cx="50566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97316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176272"/>
            <a:ext cx="5056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Backend Services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798064"/>
            <a:ext cx="4416552" cy="1645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2926080"/>
            <a:ext cx="50566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97316"/>
                </a:solidFill>
                <a:latin typeface="Calibri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529584"/>
            <a:ext cx="5056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User Stories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4151376"/>
            <a:ext cx="4416552" cy="1645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4279392"/>
            <a:ext cx="50566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97316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882896"/>
            <a:ext cx="5056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docker compose 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5504688"/>
            <a:ext cx="4416552" cy="1645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0" y="5632704"/>
            <a:ext cx="50566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97316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6236208"/>
            <a:ext cx="5056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Days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713232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5448" y="91440"/>
            <a:ext cx="6976872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201168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LAP 2025/2026  ·  HACKATHON — MARCH 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512064"/>
            <a:ext cx="5029200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1481328"/>
            <a:ext cx="653796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97316"/>
                </a:solidFill>
                <a:latin typeface="Calibri"/>
              </a:rPr>
              <a:t>🔴  Mars Operations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2962656"/>
            <a:ext cx="6537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2E8F0"/>
                </a:solidFill>
                <a:latin typeface="Calibri"/>
              </a:rPr>
              <a:t>Distributed IoT Automation Platform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3602736"/>
            <a:ext cx="5120640" cy="411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3730752"/>
            <a:ext cx="6537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94A3B8"/>
                </a:solidFill>
                <a:latin typeface="Calibri"/>
              </a:rPr>
              <a:t>Event-driven  ·  Real-time SSE  ·  IF-THEN rules  ·  Fully containerised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4279392"/>
            <a:ext cx="2304288" cy="420624"/>
          </a:xfrm>
          <a:prstGeom prst="rect">
            <a:avLst/>
          </a:prstGeom>
          <a:solidFill>
            <a:srgbClr val="1E293B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8912" y="4279392"/>
            <a:ext cx="82296" cy="42062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" y="4334256"/>
            <a:ext cx="21214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Student ID: 2082600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07792" y="4279392"/>
            <a:ext cx="1874519" cy="420624"/>
          </a:xfrm>
          <a:prstGeom prst="rect">
            <a:avLst/>
          </a:prstGeom>
          <a:solidFill>
            <a:srgbClr val="1E293B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07792" y="4279392"/>
            <a:ext cx="82296" cy="42062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72384" y="4334256"/>
            <a:ext cx="1709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Project: MarsTok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83680"/>
            <a:ext cx="7132320" cy="2743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6629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Sapienza University of Rome  ·  A.Y. 2025/2026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"/>
            <a:ext cx="12188952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97316"/>
                </a:solidFill>
                <a:latin typeface="Calibri"/>
              </a:rPr>
              <a:t>🚨  Problem &amp;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68096"/>
            <a:ext cx="1127455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1645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4768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Mars Operations  ·  Hackathon March 2026  ·  Student 2082600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64768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97316"/>
                </a:solidFill>
                <a:latin typeface="Calibri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886968"/>
            <a:ext cx="11274552" cy="60350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886968"/>
            <a:ext cx="82296" cy="60350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960120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94A3B8"/>
                </a:solidFill>
                <a:latin typeface="Calibri"/>
              </a:rPr>
              <a:t>"Mars 2036. Your automation stack is partially destroyed. Devices speak incompatible dialects. Rebuild it — or face thermodynamic consequences."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600200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EF4444"/>
                </a:solidFill>
                <a:latin typeface="Calibri"/>
              </a:rPr>
              <a:t>❌  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5352" y="1600200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2C55E"/>
                </a:solidFill>
                <a:latin typeface="Calibri"/>
              </a:rPr>
              <a:t>✅  Our Solution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84248"/>
            <a:ext cx="548640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984248"/>
            <a:ext cx="64008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39696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15 devices,  8 raw JSON schemas,  two transport protocols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1984248"/>
            <a:ext cx="548640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1984248"/>
            <a:ext cx="64008" cy="6583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2139696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Unified  InternalEvent  normalisation layer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706624"/>
            <a:ext cx="548640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2706624"/>
            <a:ext cx="64008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862072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REST polling + persistent SSE streams — no unified format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352" y="2706624"/>
            <a:ext cx="548640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5352" y="2706624"/>
            <a:ext cx="64008" cy="6583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8232" y="2862072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Event-driven pipeline via  RabbitMQ  fanout exchange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429000"/>
            <a:ext cx="548640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429000"/>
            <a:ext cx="64008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584448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Operators face a blank dashboard on page load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352" y="3429000"/>
            <a:ext cx="548640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352" y="3429000"/>
            <a:ext cx="64008" cy="6583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28232" y="3584448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IF-THEN rule engine — auto-triggers actuators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151376"/>
            <a:ext cx="548640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151376"/>
            <a:ext cx="64008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306824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Automation must fire without human intervention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5352" y="4151376"/>
            <a:ext cx="548640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45352" y="4151376"/>
            <a:ext cx="64008" cy="6583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28232" y="4306824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React dashboard with  live SSE push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873752"/>
            <a:ext cx="548640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873752"/>
            <a:ext cx="64008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029200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Configuration must survive service restarts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45352" y="4873752"/>
            <a:ext cx="548640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45352" y="4873752"/>
            <a:ext cx="64008" cy="6583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2" y="5029200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Full Docker Compose IaC — one command start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"/>
            <a:ext cx="12188952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97316"/>
                </a:solidFill>
                <a:latin typeface="Calibri"/>
              </a:rPr>
              <a:t>🏗️ 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68096"/>
            <a:ext cx="1127455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1645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4768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Mars Operations  ·  Hackathon March 2026  ·  Student 2082600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64768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97316"/>
                </a:solidFill>
                <a:latin typeface="Calibr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886968"/>
            <a:ext cx="6903720" cy="585216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886968"/>
            <a:ext cx="64008" cy="58521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941832"/>
            <a:ext cx="6675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🔴  mars-iot-simulator :8080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1216152"/>
            <a:ext cx="6675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8 REST sensors (poll 5 s)  ·  7 SSE telemetry 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472184"/>
            <a:ext cx="6903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97316"/>
                </a:solidFill>
                <a:latin typeface="Calibri"/>
              </a:rPr>
              <a:t>↓  HTTP GET every 5 s   +   SSE EventSource (7 topics)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46504"/>
            <a:ext cx="6903720" cy="585216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46504"/>
            <a:ext cx="64008" cy="58521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6675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🔵  collector  — Python 3.12 asyncio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075688"/>
            <a:ext cx="6675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polls + streams + normalises (8 raw schemas) + publishes to RabbitMQ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331720"/>
            <a:ext cx="6903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97316"/>
                </a:solidFill>
                <a:latin typeface="Calibri"/>
              </a:rPr>
              <a:t>↓  AMQP  PERSISTENT  publish  to  mars.events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6903720" cy="585216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64008" cy="58521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60904"/>
            <a:ext cx="6675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🟣  RabbitMQ 3.13  — fanout exchange  mars.events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2935224"/>
            <a:ext cx="6675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durable queues  ·  persistent delivery mode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191256"/>
            <a:ext cx="6903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97316"/>
                </a:solidFill>
                <a:latin typeface="Calibri"/>
              </a:rPr>
              <a:t>↓  exclusive anonymous queue  (auto-delete on consumer restart)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65576"/>
            <a:ext cx="6903720" cy="585216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65576"/>
            <a:ext cx="64008" cy="58521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3520440"/>
            <a:ext cx="6675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🟠  rules-engine  — Python 3.12 asyncio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3794760"/>
            <a:ext cx="6675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cache state in Redis → evaluate rules → POST actuator → INSERT alert → PUBLISH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050792"/>
            <a:ext cx="6903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97316"/>
                </a:solidFill>
                <a:latin typeface="Calibri"/>
              </a:rPr>
              <a:t>↓  REST  ·  ↓  Redis state  ·  ↓  PostgreSQL  ·  ↓  Redis pub/sub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325112"/>
            <a:ext cx="3396996" cy="585216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325112"/>
            <a:ext cx="64008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4398264"/>
            <a:ext cx="31683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🩵  api  — FastAPI :8000
REST + SSE gateway  ·  pydantic v2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63924" y="4325112"/>
            <a:ext cx="3396996" cy="585216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3924" y="4325112"/>
            <a:ext cx="64008" cy="58521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28516" y="4398264"/>
            <a:ext cx="31683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🟢  frontend  — React 18 :3000
7-page SPA  ·  Vite  ·  TailwindCSS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99248" y="886968"/>
            <a:ext cx="4032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  <a:latin typeface="Calibri"/>
              </a:rPr>
              <a:t>Infrastructure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99248" y="1252728"/>
            <a:ext cx="4032504" cy="16642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99248" y="1252728"/>
            <a:ext cx="64008" cy="16642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1344168"/>
            <a:ext cx="3803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📨  RabbitMQ 3.13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1709928"/>
            <a:ext cx="3803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fanout  mars.events
durable  ·  persistent delivery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99248" y="3026664"/>
            <a:ext cx="4032504" cy="16642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99248" y="3026664"/>
            <a:ext cx="64008" cy="16642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0" y="3118104"/>
            <a:ext cx="3803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⚡  Redis 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3483864"/>
            <a:ext cx="3803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state:{id}  TTL=3600 s
pub/sub:  mars.events  +  mars.alerts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99248" y="4800600"/>
            <a:ext cx="4032504" cy="16642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99248" y="4800600"/>
            <a:ext cx="64008" cy="166420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0" y="4892040"/>
            <a:ext cx="3803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🐘  PostgreSQL 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5257800"/>
            <a:ext cx="3803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tables:  rules  +  alerts
JSONB  ·  Alembic auto-migration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"/>
            <a:ext cx="12188952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97316"/>
                </a:solidFill>
                <a:latin typeface="Calibri"/>
              </a:rPr>
              <a:t>⚡  Data Pipeline &amp; Unified Schema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68096"/>
            <a:ext cx="1127455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1645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4768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Mars Operations  ·  Hackathon March 2026  ·  Student 2082600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64768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97316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88696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B923C"/>
                </a:solidFill>
                <a:latin typeface="Calibri"/>
              </a:rPr>
              <a:t>7-Step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52728"/>
            <a:ext cx="310896" cy="3108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80160"/>
            <a:ext cx="31089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2527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Ingest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1252728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Poll 8 REST sensors every 5 s · maintain 7 persistent SSE connections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600200"/>
            <a:ext cx="537667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947672"/>
            <a:ext cx="310896" cy="3108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975104"/>
            <a:ext cx="31089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19476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Normalise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1947672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8 raw schemas → 1 InternalEvent via dispatcher pattern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95144"/>
            <a:ext cx="537667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42616"/>
            <a:ext cx="310896" cy="3108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670048"/>
            <a:ext cx="31089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4261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Publish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2642616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PERSISTENT delivery to RabbitMQ fanout  mars.events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90088"/>
            <a:ext cx="537667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337560"/>
            <a:ext cx="310896" cy="3108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364992"/>
            <a:ext cx="31089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33756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3337560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Write state:{id} to Redis TTL=1 h · evaluate all enabled rules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685032"/>
            <a:ext cx="537667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032504"/>
            <a:ext cx="310896" cy="3108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059936"/>
            <a:ext cx="31089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032504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Alert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4032504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POST actuator to simulator + INSERT PostgreSQL + PUBLISH Redis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379976"/>
            <a:ext cx="537667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4727448"/>
            <a:ext cx="310896" cy="3108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754880"/>
            <a:ext cx="31089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472744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4727448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API subscribes Redis pub/sub → relays named SSE events to browser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074920"/>
            <a:ext cx="537667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5422392"/>
            <a:ext cx="310896" cy="3108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449824"/>
            <a:ext cx="31089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542239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Render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422392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useSSE: pre-fetch GET /api/state/ on load then merge live stream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886968"/>
            <a:ext cx="5330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B923C"/>
                </a:solidFill>
                <a:latin typeface="Calibri"/>
              </a:rPr>
              <a:t>InternalEvent Schema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1234440"/>
            <a:ext cx="5330952" cy="400507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65392" y="1344168"/>
            <a:ext cx="5102352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4D399"/>
                </a:solidFill>
                <a:latin typeface="Courier New"/>
              </a:rPr>
              <a:t>{
  "event_id":    "550e8400-e29b-41d4-...",
  "timestamp":   "2026-03-06T12:00:00Z",
  "source_id":   "greenhouse_temperature",
  "source_type": "rest_sensor",
  "category":    "environment",
  "metrics": [
    { "name": "value", "value": 22.5, "unit": "degC" }
  ],
  "status":     "ok | warning | null",
  "raw_schema": "rest.scalar.v1"
}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5349240"/>
            <a:ext cx="5330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8 schemas handled: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5605272"/>
            <a:ext cx="53309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rest.scalar.v1 · rest.chemistry.v1 · rest.level.v1 · rest.particulate.v1
topic.power.v1 · topic.environment.v1 · topic.thermal_loop.v1 · topic.airlock.v1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"/>
            <a:ext cx="12188952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97316"/>
                </a:solidFill>
                <a:latin typeface="Calibri"/>
              </a:rPr>
              <a:t>⚙️  Automation Engine — IF-THEN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68096"/>
            <a:ext cx="1127455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1645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4768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Mars Operations  ·  Hackathon March 2026  ·  Student 2082600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64768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97316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88696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B923C"/>
                </a:solidFill>
                <a:latin typeface="Calibri"/>
              </a:rPr>
              <a:t>Rule Model (persisted in PostgreSQL)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5577840" cy="267004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325880"/>
            <a:ext cx="5376672" cy="2505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4D399"/>
                </a:solidFill>
                <a:latin typeface="Courier New"/>
              </a:rPr>
              <a:t>{
  "name": "High Temp → Cooling Fan ON",
  "enabled": true,
  "condition": {
    "source_id": "greenhouse_temperature",
    "metric":    "value",
    "operator":  "&gt;",
    "threshold": 35.0
  },
  "action": {
    "actuator_name": "cooling_fan",
    "state":         "ON"
  }
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14216"/>
            <a:ext cx="5577840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014216"/>
            <a:ext cx="64008" cy="5669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05656"/>
            <a:ext cx="53766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🔁  Evaluated on every incoming event
     SELECT * FROM rules WHERE enabled = true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690872"/>
            <a:ext cx="5577840" cy="51206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690872"/>
            <a:ext cx="64008" cy="5120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782312"/>
            <a:ext cx="5376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POST  simulator:8080/actuators/{name}  →  {"state": "ON"}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886968"/>
            <a:ext cx="52395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B923C"/>
                </a:solidFill>
                <a:latin typeface="Calibri"/>
              </a:rPr>
              <a:t>Supported Operators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252728"/>
            <a:ext cx="1609344" cy="42062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92240" y="1252728"/>
            <a:ext cx="64008" cy="42062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8544" y="1325880"/>
            <a:ext cx="1426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&gt;  (gt)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57032" y="1252728"/>
            <a:ext cx="1609344" cy="42062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57032" y="1252728"/>
            <a:ext cx="64008" cy="42062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03336" y="1325880"/>
            <a:ext cx="1426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&lt;  (lt)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1824" y="1252728"/>
            <a:ext cx="1609344" cy="42062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21824" y="1252728"/>
            <a:ext cx="64008" cy="42062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68128" y="1325880"/>
            <a:ext cx="1426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&gt;=  (gte)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1773935"/>
            <a:ext cx="1609344" cy="42062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92240" y="1773935"/>
            <a:ext cx="64008" cy="42062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8544" y="1847087"/>
            <a:ext cx="1426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&lt;=  (lte)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7032" y="1773935"/>
            <a:ext cx="1609344" cy="42062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57032" y="1773935"/>
            <a:ext cx="64008" cy="42062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3336" y="1847087"/>
            <a:ext cx="1426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=  (eq)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21824" y="1773935"/>
            <a:ext cx="1609344" cy="42062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21824" y="1773935"/>
            <a:ext cx="64008" cy="42062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68128" y="1847087"/>
            <a:ext cx="1426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!=  (neq)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2423160"/>
            <a:ext cx="52395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B923C"/>
                </a:solidFill>
                <a:latin typeface="Calibri"/>
              </a:rPr>
              <a:t>Rule Lifecycle — Full CRUD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492240" y="2788920"/>
          <a:ext cx="484632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200400"/>
                <a:gridCol w="59436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97316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97316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97316"/>
                          </a:solidFill>
                          <a:latin typeface="Calibri"/>
                        </a:rPr>
                        <a:t>US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Create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POST   /api/rules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List/Get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GET    /api/rules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Edit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PUT    /api/rules/{id}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Toggle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PATCH  /api/rules/{id}/toggle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Delete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DELETE /api/rules/{id}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6492240" y="4910328"/>
            <a:ext cx="5239512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4910328"/>
            <a:ext cx="64008" cy="62179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56832" y="5020055"/>
            <a:ext cx="5010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✅  Persisted in PostgreSQL — survive  docker compose down
     alembic upgrade head  runs automatically on boot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"/>
            <a:ext cx="12188952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97316"/>
                </a:solidFill>
                <a:latin typeface="Calibri"/>
              </a:rPr>
              <a:t>🖥️  Frontend Dashboard — 7 Pages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68096"/>
            <a:ext cx="1127455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1645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4768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Mars Operations  ·  Hackathon March 2026  ·  Student 2082600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64768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97316"/>
                </a:solidFill>
                <a:latin typeface="Calibri"/>
              </a:rPr>
              <a:t>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886968"/>
          <a:ext cx="1088136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8522208"/>
                <a:gridCol w="877824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97316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97316"/>
                          </a:solidFill>
                          <a:latin typeface="Calibri"/>
                        </a:rPr>
                        <a:t>Key Features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97316"/>
                          </a:solidFill>
                          <a:latin typeface="Calibri"/>
                        </a:rPr>
                        <a:t>US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All sensor cards · live SSE · ok/warning status badges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1–4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Power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6 live Recharts line charts (solar array, bus, consumption)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Environment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Radiation + life support cards · REST sensor widgets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6,9,10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Airlock&amp;Thermal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State badge IDLE/PRESSURIZING/DEPRESSURIZING · thermal charts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7,8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Actuators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ON/OFF toggle cards for all 4 actuators · 5 s auto-refresh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11,12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Rules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RuleForm dialog + RuleTable · full CRUD + toggle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13–18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Alerts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Timeline · rule/source dropdowns · SSE live prepend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19,20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562855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B923C"/>
                </a:solidFill>
                <a:latin typeface="Calibri"/>
              </a:rPr>
              <a:t>Real-time Data 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910328"/>
            <a:ext cx="1737360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910328"/>
            <a:ext cx="64008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500176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Page 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03704" y="5157216"/>
            <a:ext cx="155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97316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68296" y="4910328"/>
            <a:ext cx="1737360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68296" y="4910328"/>
            <a:ext cx="64008" cy="7498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96312" y="500176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6B6D4"/>
                </a:solidFill>
                <a:latin typeface="Calibri"/>
              </a:rPr>
              <a:t>GET /api/state/
pre-fetch 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157216"/>
            <a:ext cx="155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97316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9392" y="4910328"/>
            <a:ext cx="1737360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9392" y="4910328"/>
            <a:ext cx="64008" cy="7498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07408" y="500176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97316"/>
                </a:solidFill>
                <a:latin typeface="Calibri"/>
              </a:rPr>
              <a:t>EventSource
/api/stream SSE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25896" y="5157216"/>
            <a:ext cx="155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97316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0488" y="4910328"/>
            <a:ext cx="1737360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0488" y="4910328"/>
            <a:ext cx="64008" cy="7498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18504" y="500176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2C55E"/>
                </a:solidFill>
                <a:latin typeface="Calibri"/>
              </a:rPr>
              <a:t>sensor_update
state 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6992" y="5157216"/>
            <a:ext cx="155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97316"/>
                </a:solidFill>
                <a:latin typeface="Calibr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01584" y="4910328"/>
            <a:ext cx="1737360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01584" y="4910328"/>
            <a:ext cx="64008" cy="7498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500176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59E0B"/>
                </a:solidFill>
                <a:latin typeface="Calibri"/>
              </a:rPr>
              <a:t>alert event
prepend list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48088" y="5157216"/>
            <a:ext cx="155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97316"/>
                </a:solidFill>
                <a:latin typeface="Calibr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12680" y="4910328"/>
            <a:ext cx="1737360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12680" y="4910328"/>
            <a:ext cx="64008" cy="74980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0696" y="500176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0A5FA"/>
                </a:solidFill>
                <a:latin typeface="Calibri"/>
              </a:rPr>
              <a:t>3 s reconnect
on drop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806440"/>
            <a:ext cx="11274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Calibri"/>
              </a:rPr>
              <a:t>React 18 · TypeScript · Vite · TailwindCSS · Recharts · lucide-react · react-router-dom v6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"/>
            <a:ext cx="12188952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97316"/>
                </a:solidFill>
                <a:latin typeface="Calibri"/>
              </a:rPr>
              <a:t>🔧  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68096"/>
            <a:ext cx="1127455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1645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4768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Mars Operations  ·  Hackathon March 2026  ·  Student 2082600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64768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97316"/>
                </a:solidFill>
                <a:latin typeface="Calibri"/>
              </a:rPr>
              <a:t>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886968"/>
          <a:ext cx="11274552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4575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97316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97316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Ingestion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Python 3.12 · asyncio · httpx · aio-pika · pydantic v2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Message Broker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RabbitMQ 3.13 · fanout exchange mars.events · durable · persistent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Processing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Python 3.12 · SQLAlchemy 2 async · asyncpg · alembic · httpx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State Cache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Redis 7 · state:{id} TTL=3600 s · pub/sub: mars.events + mars.alerts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PostgreSQL 16 · rules + alerts tables · JSONB columns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API Gateway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FastAPI · Uvicorn · sse-starlette · CORS middleware · pydantic v2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React 18 · TypeScript · Vite · TailwindCSS · Recharts · lucide-react</a:t>
                      </a:r>
                    </a:p>
                  </a:txBody>
                  <a:tcPr>
                    <a:solidFill>
                      <a:srgbClr val="131d2e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IaC / Serving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Docker Compose · nginx · 8 containers · named volumes · healthchecks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30352" y="4745736"/>
            <a:ext cx="2108606" cy="11155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4745736"/>
            <a:ext cx="2108606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4837176"/>
            <a:ext cx="210860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97316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5367528"/>
            <a:ext cx="210860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Containers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5262" y="4745736"/>
            <a:ext cx="2108606" cy="11155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5262" y="4745736"/>
            <a:ext cx="2108606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5262" y="4837176"/>
            <a:ext cx="210860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97316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5262" y="5367528"/>
            <a:ext cx="210860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Backend
Services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0172" y="4745736"/>
            <a:ext cx="2108606" cy="11155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40172" y="4745736"/>
            <a:ext cx="2108606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172" y="4837176"/>
            <a:ext cx="210860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97316"/>
                </a:solidFill>
                <a:latin typeface="Calibri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0172" y="5367528"/>
            <a:ext cx="210860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User Stories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95083" y="4745736"/>
            <a:ext cx="2108606" cy="11155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95083" y="4745736"/>
            <a:ext cx="2108606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95083" y="4837176"/>
            <a:ext cx="210860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97316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5083" y="5367528"/>
            <a:ext cx="210860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docker
compose 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49993" y="4745736"/>
            <a:ext cx="2108606" cy="11155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49993" y="4745736"/>
            <a:ext cx="2108606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49993" y="4837176"/>
            <a:ext cx="210860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97316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49993" y="5367528"/>
            <a:ext cx="210860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Days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"/>
            <a:ext cx="12188952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97316"/>
                </a:solidFill>
                <a:latin typeface="Calibri"/>
              </a:rPr>
              <a:t>🐳  Infrastructure as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68096"/>
            <a:ext cx="1127455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1645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4768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Mars Operations  ·  Hackathon March 2026  ·  Student 2082600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64768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97316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886968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B923C"/>
                </a:solidFill>
                <a:latin typeface="Calibri"/>
              </a:rPr>
              <a:t>One Command Start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5715000" cy="129844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325880"/>
            <a:ext cx="548640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4D399"/>
                </a:solidFill>
                <a:latin typeface="Courier New"/>
              </a:rPr>
              <a:t># One-time: load the OCI simulator image
./source/load-image.sh
# Start the entire platform
cd source &amp;&amp; docker compose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60904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B923C"/>
                </a:solidFill>
                <a:latin typeface="Calibri"/>
              </a:rPr>
              <a:t>Startup Dependency Chain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26664"/>
            <a:ext cx="5715000" cy="53035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026664"/>
            <a:ext cx="64008" cy="5303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14553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🟣 rabbitmq  ·  ⚡ redis  ·  🐘 postgres  ·  🔴 simulator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355701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↓  condition: service_healthy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58184"/>
            <a:ext cx="5715000" cy="53035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58184"/>
            <a:ext cx="64008" cy="5303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87705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🔵 collector   ·   🟠 rules-engine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28853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↓  condition: service_healthy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89704"/>
            <a:ext cx="5715000" cy="53035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489704"/>
            <a:ext cx="64008" cy="5303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460857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🩵 api  :8000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02005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↓  condition: service_healthy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221224"/>
            <a:ext cx="5715000" cy="53035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221224"/>
            <a:ext cx="64008" cy="5303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34009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🟢 frontend  :3000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886968"/>
            <a:ext cx="52395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B923C"/>
                </a:solidFill>
                <a:latin typeface="Calibri"/>
              </a:rPr>
              <a:t>Named Volumes &amp; Persistence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1234440"/>
            <a:ext cx="5239512" cy="11887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92240" y="1234440"/>
            <a:ext cx="64008" cy="1188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56832" y="1325880"/>
            <a:ext cx="5010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🗄️  pg_data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56832" y="1691640"/>
            <a:ext cx="50109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Rules + alerts persist across restarts
US 18 — rule persistence verified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551176"/>
            <a:ext cx="5239512" cy="11887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92240" y="2551176"/>
            <a:ext cx="64008" cy="1188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56832" y="2642616"/>
            <a:ext cx="5010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📨  rabbitmq_data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56832" y="3008376"/>
            <a:ext cx="50109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Durable queue messages survive broker restart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3867912"/>
            <a:ext cx="5239512" cy="11887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92240" y="3867912"/>
            <a:ext cx="64008" cy="1188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56832" y="3959352"/>
            <a:ext cx="5010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⚡  redis_data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56832" y="4325112"/>
            <a:ext cx="50109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State cache repopulates from RabbitMQ stream
within seconds on loss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5257800"/>
            <a:ext cx="5239512" cy="5486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92240" y="5257800"/>
            <a:ext cx="64008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56832" y="5349240"/>
            <a:ext cx="50109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No manual steps after  docker compose up
Alembic upgrade head runs automatically on boot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"/>
            <a:ext cx="12188952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97316"/>
                </a:solidFill>
                <a:latin typeface="Calibri"/>
              </a:rPr>
              <a:t>💡  Lessons Learned &amp; Design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68096"/>
            <a:ext cx="1127455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1645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4768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Mars Operations  ·  Hackathon March 2026  ·  Student 2082600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64768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97316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88696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59E0B"/>
                </a:solidFill>
                <a:latin typeface="Calibri"/>
              </a:rPr>
              <a:t>⚠️  Engineering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88696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2C55E"/>
                </a:solidFill>
                <a:latin typeface="Calibri"/>
              </a:rPr>
              <a:t>✅  Key Design Decisions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252728"/>
            <a:ext cx="5486400" cy="11155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252728"/>
            <a:ext cx="64008" cy="11155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325880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Schema diversity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673352"/>
            <a:ext cx="5257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8 raw device formats required a dispatcher pattern: each schema maps to its own handler in the collector normaliser.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1252728"/>
            <a:ext cx="5486400" cy="11155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252728"/>
            <a:ext cx="64008" cy="11155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9944" y="1325880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Fanout exchange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1673352"/>
            <a:ext cx="5257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Collector publishes once → any new service binds its own anonymous queue. Zero collector changes to extend the system.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459736"/>
            <a:ext cx="5486400" cy="11155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459736"/>
            <a:ext cx="64008" cy="11155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532888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SSE double reconnection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2880360"/>
            <a:ext cx="5257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Both collector (→ simulator) and frontend (→ API) need independent 3 s auto-retry loops to survive drops.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352" y="2459736"/>
            <a:ext cx="5486400" cy="11155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5352" y="2459736"/>
            <a:ext cx="64008" cy="11155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9944" y="2532888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Redis pub/sub relay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2880360"/>
            <a:ext cx="5257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True zero-latency push from rules-engine to API SSE clients — no polling, no sleep loops needed.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666744"/>
            <a:ext cx="5486400" cy="11155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666744"/>
            <a:ext cx="64008" cy="11155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739896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Blank dashboard on load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4087368"/>
            <a:ext cx="5257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Opening SSE first = empty cards for up to 5 s. Fix: pre-fetch GET /api/state/ before opening EventSource.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3666744"/>
            <a:ext cx="5486400" cy="11155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5352" y="3666744"/>
            <a:ext cx="64008" cy="11155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9944" y="3739896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Alembic on boot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9944" y="4087368"/>
            <a:ext cx="5257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alembic upgrade head at rules-engine startup: DB schema always in sync, no manual migration step ever required.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873752"/>
            <a:ext cx="5486400" cy="11155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873752"/>
            <a:ext cx="64008" cy="11155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946904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JSONB alert filtering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" y="5294376"/>
            <a:ext cx="5257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Used PostgreSQL @&gt; containment operator to filter source_id inside the stored JSONB event blob.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45352" y="4873752"/>
            <a:ext cx="5486400" cy="11155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45352" y="4873752"/>
            <a:ext cx="64008" cy="11155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9944" y="4946904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Exclusive anonymous queues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9944" y="5294376"/>
            <a:ext cx="5257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Auto-deleted on consumer restart: no stale messages accumulate. Broker stays clean automatically.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"/>
            <a:ext cx="12188952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97316"/>
                </a:solidFill>
                <a:latin typeface="Calibri"/>
              </a:rPr>
              <a:t>🎬  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68096"/>
            <a:ext cx="1127455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1645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4768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Mars Operations  ·  Hackathon March 2026  ·  Student 2082600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64768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97316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886968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B923C"/>
                </a:solidFill>
                <a:latin typeface="Calibri"/>
              </a:rPr>
              <a:t>Demo Script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89304"/>
            <a:ext cx="292608" cy="2926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89304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1252728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docker compose 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1252728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— all 8 containers reach healthy state in dependency order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47672"/>
            <a:ext cx="292608" cy="2926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947672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1911096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1911096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— cards populate instantly (US 4 pre-fetch); values live every 5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292608" cy="2926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60604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2569464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Power 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2569464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— 6 Recharts live line charts with rolling window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64408"/>
            <a:ext cx="292608" cy="2926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264408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3227832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Actuators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3227832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— toggle  cooling_fan  ON → OFF; optimistic + 5 s auto-confirm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22776"/>
            <a:ext cx="292608" cy="2926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92277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3886200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40" y="3886200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— create:  greenhouse_temperature &gt; 28 → cooling_fan ON  (US 13)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581144"/>
            <a:ext cx="292608" cy="2926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581144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4544568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Alerts 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544568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— alert appears live via SSE; filter by rule / source_id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239512"/>
            <a:ext cx="292608" cy="2926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239512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" y="5202936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Persistence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06040" y="5202936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— down &amp;&amp; up → rules still there ✅  (US 18 verified)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886968"/>
            <a:ext cx="4005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B923C"/>
                </a:solidFill>
                <a:latin typeface="Calibri"/>
              </a:rPr>
              <a:t>Endpoints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0" y="1252728"/>
            <a:ext cx="4005072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0" y="1252728"/>
            <a:ext cx="64008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36992" y="1325880"/>
            <a:ext cx="3776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6B6D4"/>
                </a:solidFill>
                <a:latin typeface="Courier New"/>
              </a:rPr>
              <a:t>🖥️  http://localhost:3000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6992" y="1709928"/>
            <a:ext cx="3776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React dashboard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2185416"/>
            <a:ext cx="4005072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0" y="2185416"/>
            <a:ext cx="64008" cy="8229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36992" y="2258568"/>
            <a:ext cx="3776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0A5FA"/>
                </a:solidFill>
                <a:latin typeface="Courier New"/>
              </a:rPr>
              <a:t>📖  http://localhost:8000/docs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36992" y="2642616"/>
            <a:ext cx="3776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FastAPI Swagger / ReDoc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0" y="3118104"/>
            <a:ext cx="4005072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0" y="3118104"/>
            <a:ext cx="64008" cy="8229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36992" y="3191256"/>
            <a:ext cx="3776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855F7"/>
                </a:solidFill>
                <a:latin typeface="Courier New"/>
              </a:rPr>
              <a:t>📨  http://localhost:15672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36992" y="3575304"/>
            <a:ext cx="3776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RabbitMQ Management  (guest/guest)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27264" y="4050792"/>
            <a:ext cx="1225296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27264" y="4105656"/>
            <a:ext cx="12252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97316"/>
                </a:solidFill>
                <a:latin typeface="Calibri"/>
              </a:rPr>
              <a:t>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27264" y="4581144"/>
            <a:ext cx="12252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User Stories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4050792"/>
            <a:ext cx="1225296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62288" y="4105656"/>
            <a:ext cx="12252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97316"/>
                </a:solidFill>
                <a:latin typeface="Calibri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62288" y="4581144"/>
            <a:ext cx="12252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Containers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497312" y="4050792"/>
            <a:ext cx="1225296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497312" y="4105656"/>
            <a:ext cx="12252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97316"/>
                </a:solidFill>
                <a:latin typeface="Calibr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97312" y="4581144"/>
            <a:ext cx="12252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Days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72400" y="4983480"/>
            <a:ext cx="4005072" cy="69494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72400" y="5038344"/>
            <a:ext cx="400507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1 command  ·  0 manual setup
No blank screens.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