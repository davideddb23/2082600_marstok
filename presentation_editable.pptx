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645920"/>
            <a:ext cx="457200" cy="457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97316"/>
                </a:solidFill>
                <a:latin typeface="Calibri"/>
              </a:rPr>
              <a:t>🔴  Mars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2E8F0"/>
                </a:solidFill>
                <a:latin typeface="Calibri"/>
              </a:rPr>
              <a:t>Distributed IoT Automation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160520"/>
            <a:ext cx="5486400" cy="2743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Lab of Advanced Programming 2025/2026  ·  Hackathon —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800600"/>
            <a:ext cx="1920240" cy="3840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4800600"/>
            <a:ext cx="64008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846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Student ID: 2082600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4800600"/>
            <a:ext cx="1645920" cy="3840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4800600"/>
            <a:ext cx="64008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48463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Project: MarsTok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0" y="457200"/>
            <a:ext cx="2560320" cy="594360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26880" y="457200"/>
            <a:ext cx="256032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1097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9731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Containers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97316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514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Backend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1089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97316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520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User Stories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4114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97316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45262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Startup command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5120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97316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5532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Days to build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  <a:latin typeface="Calibri"/>
              </a:rPr>
              <a:t>🚨  Problem &amp;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8311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11183112" cy="65836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82296" cy="6583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241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  <a:latin typeface="Calibri"/>
              </a:rPr>
              <a:t>"Mars 2036. Your automation stack is partially destroyed. Devices speak incompatible dialects. Rebuild it — or face thermodynamic consequences."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  <a:latin typeface="Calibri"/>
              </a:rPr>
              <a:t>❌  The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76272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76272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58568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15 devices,  8 raw JSON schemas,  two transport protocols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926079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26079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08376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REST polling + persistent SSE streams — no unified format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75887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675887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58184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Operators face a blank dashboard on page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25696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425696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07992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Automation must fire without human intervention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175504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175504"/>
            <a:ext cx="64008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257800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Configuration must survive service restarts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175564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✅  Our 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2176272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2176272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2258568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Unified  InternalEvent  normalisation layer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2926079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072" y="2926079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3008376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Event-driven pipeline via  RabbitMQ  fanout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675887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3675887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3758184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IF-THEN rule engine — auto-triggers actuators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91072" y="4425696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91072" y="4425696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4507992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React dashboard with  live SSE push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91072" y="5175504"/>
            <a:ext cx="5394960" cy="65836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91072" y="5175504"/>
            <a:ext cx="64008" cy="65836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3952" y="5257800"/>
            <a:ext cx="5166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Full Docker Compose IaC — one command start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  <a:latin typeface="Calibri"/>
              </a:rPr>
              <a:t>🏗️ 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8311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7132320" cy="6400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64008" cy="6400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14984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🔴  mars-iot-simulator :8080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89304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8 REST sensors (poll 5 s)  ·  7 SSE telemetry topics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7316"/>
                </a:solidFill>
                <a:latin typeface="Calibri"/>
              </a:rPr>
              <a:t>↓  HTTP GET every 5 s  +  SSE EventSource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7132320" cy="6400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920240"/>
            <a:ext cx="64008" cy="64008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75104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🔵  collector  — Python 3.12 asyncio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49424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polls + streams + normalises (8 schemas) + publishes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6032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7316"/>
                </a:solidFill>
                <a:latin typeface="Calibri"/>
              </a:rPr>
              <a:t>↓  AMQP PERSISTENT publish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7132320" cy="6400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80360"/>
            <a:ext cx="64008" cy="6400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35224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🟣  RabbitMQ 3.13  — fanout exchange mars.events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209544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durable · persistent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5204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7316"/>
                </a:solidFill>
                <a:latin typeface="Calibri"/>
              </a:rPr>
              <a:t>↓  exclusive anonymous queue consume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7132320" cy="6400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95344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🟠  rules-engine  — Python 3.12 asyncio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69664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cache state → evaluate rules → actuate → persist alerts → publish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8056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7316"/>
                </a:solidFill>
                <a:latin typeface="Calibri"/>
              </a:rPr>
              <a:t>↓  REST  ·  ↓  Redis  ·  ↓  PostgreSQL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00600"/>
            <a:ext cx="7132320" cy="6400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00600"/>
            <a:ext cx="64008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855464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🩵  api — FastAPI :8000   |   🟢  frontend — React 18 :3000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129784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REST + SSE gateway  ·  7-page React SPA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9144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  <a:latin typeface="Calibri"/>
              </a:rPr>
              <a:t>Infrastructure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1371600"/>
            <a:ext cx="3566160" cy="1371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0" y="1371600"/>
            <a:ext cx="64008" cy="13716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94192" y="146304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📨 RabbitMQ 3.13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1792224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fanout mars.events
durable · persistent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2926080"/>
            <a:ext cx="3566160" cy="1371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0" y="2926080"/>
            <a:ext cx="64008" cy="137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94192" y="30175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⚡ Redis 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3346704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state:{id} TTL=3600 s
pub/sub channels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4480560"/>
            <a:ext cx="3566160" cy="1371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4480560"/>
            <a:ext cx="64008" cy="13716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192" y="45720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🐘 PostgreSQL 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4901184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rules + alerts tables
JSONB · Alembic migrations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  <a:latin typeface="Calibri"/>
              </a:rPr>
              <a:t>⚡  Data Pipeline &amp; Unified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8311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7-Step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29184" cy="3474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08176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37160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Poll 8 REST sensors every 5 s; maintain 7 persistent SSE connections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39112"/>
            <a:ext cx="329184" cy="3474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3911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Normalise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03911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8 raw schemas → 1 InternalEvent via dispatcher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06624"/>
            <a:ext cx="329184" cy="3474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43200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0662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Publish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706624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PERSISTENT to RabbitMQ fanout  mars.events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74136"/>
            <a:ext cx="329184" cy="3474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0712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3741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374136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Write state:{id} to Redis TTL=1 h; evaluate all enabled rules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41648"/>
            <a:ext cx="329184" cy="3474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078224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0416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Alert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416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POST actuator to simulator + INSERT PostgreSQL + PUBLISH Redis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709160"/>
            <a:ext cx="329184" cy="3474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745736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7091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Stream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7091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API subscribes Redis pub/sub → relays named SSE events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376672"/>
            <a:ext cx="329184" cy="3474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413248"/>
            <a:ext cx="329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37667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3766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useSSE pre-fetches state on load, then merges live stream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9601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InternalEvent Schema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371600"/>
            <a:ext cx="539496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146304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4D399"/>
                </a:solidFill>
                <a:latin typeface="Courier New"/>
              </a:rPr>
              <a:t>{
  "event_id":    "550e8400-...",
  "timestamp":   "2026-03-06T12:00:00Z",
  "source_id":   "greenhouse_temperature",
  "source_type": "rest_sensor",
  "category":    "environment",
  "metrics": [
    { "name": "value", "value": 22.5, "unit": "degC" }
  ],
  "status":     "ok | warning | null",
  "raw_schema": "rest.scalar.v1"
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13892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8 schemas handled: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41324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rest.scalar.v1  ·  rest.chemistry.v1  ·  rest.level.v1  ·  rest.particulate.v1
topic.power.v1  ·  topic.environment.v1  ·  topic.thermal_loop.v1  ·  topic.airlock.v1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  <a:latin typeface="Calibri"/>
              </a:rPr>
              <a:t>⚙️  Automation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8311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Rule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5486400" cy="26060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5257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4D399"/>
                </a:solidFill>
                <a:latin typeface="Courier New"/>
              </a:rPr>
              <a:t>{
  "name": "High Temp → Cooling Fan ON",
  "enabled": true,
  "condition": {
    "source_id": "greenhouse_temperature",
    "metric":    "value",
    "operator":  "&gt;",
    "threshold": 35.0
  },
  "action": {
    "actuator_name": "cooling_fan",
    "state":         "ON"
  }
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041648"/>
            <a:ext cx="5486400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4041648"/>
            <a:ext cx="64008" cy="5303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4114800"/>
            <a:ext cx="5285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🔁  Evaluated on every incoming event
SELECT * FROM rules WHERE enabled =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9601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Supported Operators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371600"/>
            <a:ext cx="160020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371600"/>
            <a:ext cx="64008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2646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&gt;  (gt)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19" y="1371600"/>
            <a:ext cx="160020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1371600"/>
            <a:ext cx="64008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9" y="142646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&lt;  (lt)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0" y="1371600"/>
            <a:ext cx="160020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0" y="1371600"/>
            <a:ext cx="64008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95560" y="142646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&gt;=  (gte)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874519"/>
            <a:ext cx="160020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1874519"/>
            <a:ext cx="64008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1929383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&lt;=  (lte)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19" y="1874519"/>
            <a:ext cx="160020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75319" y="1874519"/>
            <a:ext cx="64008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9" y="1929383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=  (eq)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0" y="1874519"/>
            <a:ext cx="160020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58400" y="1874519"/>
            <a:ext cx="64008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5560" y="1929383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Calibri"/>
              </a:rPr>
              <a:t>!=  (neq)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487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Rule Lifecycle (CRUD)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492240" y="2834640"/>
          <a:ext cx="46634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92608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97316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97316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97316"/>
                          </a:solidFill>
                          <a:latin typeface="Calibri"/>
                        </a:rPr>
                        <a:t>US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Create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POST  /api/rules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List / Get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GET  /api/rules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Edit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PUT  /api/rules/{id}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Toggle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PATCH  /api/rules/{id}/toggle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DELETE  /api/rules/{id}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6492240" y="5138928"/>
            <a:ext cx="5102352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92240" y="5138928"/>
            <a:ext cx="64008" cy="5303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56832" y="5212080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✅  Persisted in PostgreSQL — survive  docker compose down
     Alembic migration runs automatically on every boot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  <a:latin typeface="Calibri"/>
              </a:rPr>
              <a:t>🖥️  Frontend Dashboard — 7 Pages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8311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960120"/>
          <a:ext cx="104241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7543800"/>
                <a:gridCol w="13716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97316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97316"/>
                          </a:solidFill>
                          <a:latin typeface="Calibri"/>
                        </a:rPr>
                        <a:t>Key Features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97316"/>
                          </a:solidFill>
                          <a:latin typeface="Calibri"/>
                        </a:rPr>
                        <a:t>User Stories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All sensor cards · live SSE · ok/warning status badges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1, 2, 3, 4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Power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6 live Recharts line charts (solar array, power bus, consumption)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Environment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Radiation + life support cards at top · REST sensor widgets below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6, 9, 10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Airlock&amp;Thermal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State badge IDLE / PRESSURIZING / DEPRESSURIZING · thermal charts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7, 8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Actuators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ON/OFF toggle cards for all 4 actuators · 5 s auto-refresh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11, 12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Rules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RuleForm dialog + RuleTable · full CRUD + enable/disable toggle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13–18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Alerts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Timeline · rule/source dropdowns · SSE live prepend · pagination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19, 20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45152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Real-time Data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029200"/>
            <a:ext cx="1719072" cy="7132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29200"/>
            <a:ext cx="64008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5084064"/>
            <a:ext cx="15361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Page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52578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5029200"/>
            <a:ext cx="1719072" cy="7132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5029200"/>
            <a:ext cx="64008" cy="7132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5084064"/>
            <a:ext cx="15361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06B6D4"/>
                </a:solidFill>
                <a:latin typeface="Calibri"/>
              </a:rPr>
              <a:t>GET /api/state/
(pre-fetch)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1376" y="52578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5029200"/>
            <a:ext cx="1719072" cy="7132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5029200"/>
            <a:ext cx="64008" cy="71323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5084064"/>
            <a:ext cx="15361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97316"/>
                </a:solidFill>
                <a:latin typeface="Calibri"/>
              </a:rPr>
              <a:t>EventSource /api/stream
(persistent SSE)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1616" y="52578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029200"/>
            <a:ext cx="1719072" cy="7132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5029200"/>
            <a:ext cx="64008" cy="7132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5084064"/>
            <a:ext cx="15361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2C55E"/>
                </a:solidFill>
                <a:latin typeface="Calibri"/>
              </a:rPr>
              <a:t>sensor_update
(update state)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1856" y="52578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5029200"/>
            <a:ext cx="1719072" cy="7132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80" y="5029200"/>
            <a:ext cx="64008" cy="7132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11896" y="5084064"/>
            <a:ext cx="15361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59E0B"/>
                </a:solidFill>
                <a:latin typeface="Calibri"/>
              </a:rPr>
              <a:t>alert
(prepend list)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12096" y="525780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97316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04120" y="5029200"/>
            <a:ext cx="1719072" cy="7132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04120" y="5029200"/>
            <a:ext cx="64008" cy="71323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32136" y="5084064"/>
            <a:ext cx="15361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0A5FA"/>
                </a:solidFill>
                <a:latin typeface="Calibri"/>
              </a:rPr>
              <a:t>3 s auto-reconnect
on disconnect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33872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React 18 · TypeScript · Vite · TailwindCSS · Recharts · lucide-react · react-router-dom v6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  <a:latin typeface="Calibri"/>
              </a:rPr>
              <a:t>🔧 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8311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960120"/>
          <a:ext cx="11183112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354312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97316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97316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Ingestion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Python 3.12 · asyncio · httpx · aio-pika · pydantic v2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Message Broker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RabbitMQ 3.13 · fanout exchange · durable · persistent delivery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Processing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Python 3.12 · SQLAlchemy 2 async · asyncpg · alembic · httpx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State Cache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Redis 7 · state:{id} TTL=3600 s · pub/sub channels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PostgreSQL 16 · rules + alerts tables · JSONB columns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API Gateway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FastAPI · Uvicorn · sse-starlette · CORS middleware · pydantic v2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React 18 · TypeScript · Vite · TailwindCSS · Recharts · lucide-react</a:t>
                      </a:r>
                    </a:p>
                  </a:txBody>
                  <a:tcPr>
                    <a:solidFill>
                      <a:srgbClr val="162131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IaC / Serving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200">
                          <a:solidFill>
                            <a:srgbClr val="E2E8F0"/>
                          </a:solidFill>
                          <a:latin typeface="Calibri"/>
                        </a:rPr>
                        <a:t>Docker Compose · nginx · 8 containers · named volumes · healthchecks</a:t>
                      </a:r>
                    </a:p>
                  </a:txBody>
                  <a:tcPr>
                    <a:solidFill>
                      <a:srgbClr val="1E293B"/>
                    </a:solidFill>
                    <a:lnB w="9525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57784" y="5230368"/>
            <a:ext cx="2126894" cy="89611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5303520"/>
            <a:ext cx="21268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97316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5715000"/>
            <a:ext cx="212689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Containers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4406" y="5230368"/>
            <a:ext cx="2126894" cy="89611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4406" y="5303520"/>
            <a:ext cx="21268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97316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4406" y="5715000"/>
            <a:ext cx="212689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Backend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31028" y="5230368"/>
            <a:ext cx="2126894" cy="89611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1028" y="5303520"/>
            <a:ext cx="21268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97316"/>
                </a:solidFill>
                <a:latin typeface="Calibri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1028" y="5715000"/>
            <a:ext cx="212689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User Stories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7650" y="5230368"/>
            <a:ext cx="2126894" cy="89611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7650" y="5303520"/>
            <a:ext cx="21268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97316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7650" y="5715000"/>
            <a:ext cx="212689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docker compose 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4272" y="5230368"/>
            <a:ext cx="2126894" cy="89611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4272" y="5303520"/>
            <a:ext cx="21268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97316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4272" y="5715000"/>
            <a:ext cx="212689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Days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  <a:latin typeface="Calibri"/>
              </a:rPr>
              <a:t>🐳  Infrastructure as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8311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One Command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5669280" cy="12984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440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4D399"/>
                </a:solidFill>
                <a:latin typeface="Courier New"/>
              </a:rPr>
              <a:t># One-time: load the simulator OCI image
./source/load-image.sh
# Start the entire platform
cd source &amp;&amp; docker compose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Startup Dependency Chain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00400"/>
            <a:ext cx="5669280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200400"/>
            <a:ext cx="64008" cy="5303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2918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Calibri"/>
              </a:rPr>
              <a:t>🟣 rabbitmq  ⚡ redis  🐘 postgres  🔴 simulator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7307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↓  condition: service_healthy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67912"/>
            <a:ext cx="5669280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67912"/>
            <a:ext cx="64008" cy="5303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9593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Calibri"/>
              </a:rPr>
              <a:t>🔵 collector   🟠 rules-engine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39826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↓  condition: service_healthy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35424"/>
            <a:ext cx="5669280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535424"/>
            <a:ext cx="64008" cy="5303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46268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Calibri"/>
              </a:rPr>
              <a:t>🩵 api  :8000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5065776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4A3B8"/>
                </a:solidFill>
                <a:latin typeface="Calibri"/>
              </a:rPr>
              <a:t>↓  condition: service_healthy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202936"/>
            <a:ext cx="5669280" cy="530352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202936"/>
            <a:ext cx="64008" cy="5303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529437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FFFFF"/>
                </a:solidFill>
                <a:latin typeface="Calibri"/>
              </a:rPr>
              <a:t>🟢 frontend  :3000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960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Named Volumes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1371600"/>
            <a:ext cx="5029200" cy="11430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1371600"/>
            <a:ext cx="64008" cy="1143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2" y="1463040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🗄️  pg_data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1783080"/>
            <a:ext cx="4800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Rules + alerts persist across restarts
US 18 — rule persistence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2670048"/>
            <a:ext cx="5029200" cy="11430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0" y="2670048"/>
            <a:ext cx="64008" cy="1143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48272" y="2761488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📨  rabbitmq_data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3081528"/>
            <a:ext cx="4800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Durable messages survive broker restart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3968496"/>
            <a:ext cx="5029200" cy="11430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0" y="3968496"/>
            <a:ext cx="64008" cy="1143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48272" y="4059936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⚡  redis_data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8272" y="4379976"/>
            <a:ext cx="4800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Cache repopulates within seconds on loss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5285232"/>
            <a:ext cx="5029200" cy="47548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0" y="5285232"/>
            <a:ext cx="64008" cy="47548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48272" y="535838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No manual steps after  docker compose up
Alembic migrations run automatically on boot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  <a:latin typeface="Calibri"/>
              </a:rPr>
              <a:t>💡  Lessons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8311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⚠️ 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566928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400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44475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Schema diversity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440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8 raw formats → dispatcher pattern; each schema maps to its own handler function.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60320"/>
            <a:ext cx="566928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560320"/>
            <a:ext cx="6400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3347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SSE double reconnection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971800"/>
            <a:ext cx="5440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Both collector (→ simulator) and frontend (→ API) needed independent 3 s auto-retry loops.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49039"/>
            <a:ext cx="566928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749039"/>
            <a:ext cx="6400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822191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Blank dashboard on 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160519"/>
            <a:ext cx="5440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Opening SSE first = empty cards for 5 s. Fix: pre-fetch GET /api/state/ before EventSource.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937760"/>
            <a:ext cx="566928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937760"/>
            <a:ext cx="6400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5010912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JSONB alert filtering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5349240"/>
            <a:ext cx="5440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Used PostgreSQL @&gt; containment operator to filter source_id inside stored JSONB events.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9601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  <a:latin typeface="Calibri"/>
              </a:rPr>
              <a:t>✅  Design Decisions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1371600"/>
            <a:ext cx="521208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37960" y="1371600"/>
            <a:ext cx="64008" cy="10515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02552" y="1444752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Fanout exchange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2552" y="1783080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Collector publishes once → any consumer binds its own queue. Zero changes to add a new service.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560320"/>
            <a:ext cx="521208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37960" y="2560320"/>
            <a:ext cx="64008" cy="10515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02552" y="2633472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Redis pub/sub relay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2552" y="2971800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True zero-latency push from rules-engine to API SSE clients — no polling needed.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3749039"/>
            <a:ext cx="521208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37960" y="3749039"/>
            <a:ext cx="64008" cy="10515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02552" y="3822191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Alembic on boot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2552" y="4160519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alembic upgrade head runs at rules-engine startup — schema always in sync, no manual step.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4937760"/>
            <a:ext cx="521208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37960" y="4937760"/>
            <a:ext cx="64008" cy="10515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02552" y="5010912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Exclusive anonymous queues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2552" y="5349240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No stale messages accumulate on consumer restart. Broker stays clean automatically.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  <a:latin typeface="Calibri"/>
              </a:rPr>
              <a:t>🎬 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83112" cy="228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Demo Script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08176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08176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docker compose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371600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— watch all 8 containers reach healthy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39112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39112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0253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002536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— cards populate instantly (US 4 pre-fetch); values update every 5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8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633472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Power page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633472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— 6 live line charts; rolling window updating in real-time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00984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00984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6440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Actuators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264408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— manually toggle  cooling_fan  ON → OFF; verify optimistic update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31920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931920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95344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895344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— create:  greenhouse_temperature &gt; 28 → cooling_fan 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562855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562855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526279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Alerts 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4526279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— alert appears live; filter by rule and source dropdowns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193792"/>
            <a:ext cx="310896" cy="3108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193792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1572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Persistence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5157216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— docker compose down &amp;&amp; docker compose up → rules still there ✅ (US 18)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960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  <a:latin typeface="Calibri"/>
              </a:rPr>
              <a:t>Endpoints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1371600"/>
            <a:ext cx="4114800" cy="8412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89520" y="1371600"/>
            <a:ext cx="64008" cy="8412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54112" y="1444752"/>
            <a:ext cx="3913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ourier New"/>
              </a:rPr>
              <a:t>🖥️  http://localhost:3000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1847088"/>
            <a:ext cx="3913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React dashboard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2377440"/>
            <a:ext cx="4114800" cy="8412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89520" y="2377440"/>
            <a:ext cx="64008" cy="84124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54112" y="2450592"/>
            <a:ext cx="3913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  <a:latin typeface="Courier New"/>
              </a:rPr>
              <a:t>📖  http://localhost:8000/docs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54112" y="2852928"/>
            <a:ext cx="3913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FastAPI interactive docs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89520" y="3383280"/>
            <a:ext cx="4114800" cy="841248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89520" y="3383280"/>
            <a:ext cx="64008" cy="8412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54112" y="3456432"/>
            <a:ext cx="3913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855F7"/>
                </a:solidFill>
                <a:latin typeface="Courier New"/>
              </a:rPr>
              <a:t>📨  http://localhost:15672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54112" y="3858768"/>
            <a:ext cx="3913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RabbitMQ Management UI  (guest / guest)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44384" y="4462272"/>
            <a:ext cx="1261872" cy="7132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44384" y="45354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97316"/>
                </a:solidFill>
                <a:latin typeface="Calibri"/>
              </a:rPr>
              <a:t>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44384" y="4901184"/>
            <a:ext cx="12618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User Stories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15984" y="4462272"/>
            <a:ext cx="1261872" cy="7132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15984" y="45354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97316"/>
                </a:solidFill>
                <a:latin typeface="Calibr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15984" y="4901184"/>
            <a:ext cx="12618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Containers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87584" y="4462272"/>
            <a:ext cx="1261872" cy="71323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87584" y="4535424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97316"/>
                </a:solidFill>
                <a:latin typeface="Calibri"/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87584" y="4901184"/>
            <a:ext cx="12618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Days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89520" y="5349240"/>
            <a:ext cx="4114800" cy="62179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89520" y="5413248"/>
            <a:ext cx="4114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1 command  ·  0 manual setup  ·  No blank screens.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